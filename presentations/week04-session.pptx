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3.
SOURCES:
MDN — [Connection management in HTTP/1.x](https://developer.mozilla.org/en-US/docs/Web/HTTP/Guides/Connection_management_in_HTTP_1.x)
IETF — [RFC 9112, HTTP/1.1](https://www.rfc-editor.org/rfc/rfc9112.html)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5.
SOURCES:
IETF — [RFC 9113, HTTP/2](https://www.rfc-editor.org/rfc/rfc9113.html) · [RFC 9110, HTTP Semantics](https://www.rfc-editor.org/rfc/rfc9110.html)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6.
SOURCES:
IETF — [RFC 9000, QUIC](https://www.rfc-editor.org/rfc/rfc9000.html) · [RFC 9114, HTTP/3](https://www.rfc-editor.org/rfc/rfc9114.html)
MDN — [`Alt-Svc`](https://developer.mozilla.org/en-US/docs/Web/HTTP/Reference/Headers/Alt-Svc)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10.
SOURCES:
IETF — [RFC 8446, TLS 1.3](https://www.rfc-editor.org/rfc/rfc8446.html)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11.
SOURCES:
IETF — [RFC 8446 §2, protocol overview](https://www.rfc-editor.org/rfc/rfc8446.html)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12.
SOURCES:
IETF — [RFC 9525, service identity in TLS](https://www.rfc-editor.org/rfc/rfc9525.html)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14.
SOURCES:
Course — [tls-inspect.ps1](../samples/tls-inspect.ps1) · [captured output](../samples/tls-inspect-captures.txt)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17.
PLAIN-TEXT COMMANDS:
Copy from here or the Markdown/HTML source; colored PowerPoint code uses nonbreaking spaces for layout.
PS&gt; Get-ChildItem Cert:\LocalMachine\Root |
&gt;&gt;   Where-Object Subject -like '*ISRG Root X1*' |
&gt;&gt;   Format-List Subject, Thumbprint, NotAfter
Subject    : CN=ISRG Root X1, O=Internet Security Research Group, C=US
Thumbprint : CABD2A79A1076A31F21D253635CB039D4329A5E8
NotAfter   : 6/4/2035 6:04:38 AM
PS&gt; certutil -dump .\depaul.cer | Select-String 'Subject|NotAfter|DNS'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20.
PLAIN-TEXT COMMANDS:
Copy from here or the Markdown/HTML source; colored PowerPoint code uses nonbreaking spaces for layout.
# Leaf fields (subject, issuer, dates, SAN)
openssl s_client -connect www.depaul.edu:443 -servername www.depaul.edu \
  &lt;/dev/null 2&gt;/dev/null | openssl x509 -noout -subject -issuer -dates \
  -ext subjectAltName
# Full chain the server sends, and the verify result
openssl s_client -connect www.depaul.edu:443 -servername www.depaul.edu \
  -showcerts &lt;/dev/null
# ALPN: which HTTP version does the server pick?
openssl s_client -connect www.depaul.edu:443 -servername www.depaul.edu \
  -alpn h2,http/1.1 &lt;/dev/null 2&gt;/dev/null | grep -i alpn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21.
SOURCES:
Let's Encrypt — [How it works](https://letsencrypt.org/how-it-works/)
MDN — [`Strict-Transport-Security`](https://developer.mozilla.org/en-US/docs/Web/HTTP/Reference/Headers/Strict-Transport-Security)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15.
SOURCES:
Course — [campuspulse-fullstack sample](../samples/campuspulse-fullstack/README.md)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15.
SOURCES:
Course — [campuspulse-fullstack sample](../samples/campuspulse-fullstack/README.md)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practice; source Block C, slide 17.
SOURCES:
Course — [Week 4 guided lab: full commands, expected output, and offline fallbacks](../lab.md)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homework; source Block C, slide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homework; source Block C, slide 19.
SOURCES:
Course — [HW4 handout](../homework.md) · [evidence standard](../../../docs/evidence-standard.md)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closing; source Block C, slide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Web/HTTP/Guides/Connection_management_in_HTTP_1.x" TargetMode="External"/><Relationship Id="rId2" Type="http://schemas.openxmlformats.org/officeDocument/2006/relationships/hyperlink" Target="https://www.rfc-editor.org/rfc/rfc9112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113.html" TargetMode="External"/><Relationship Id="rId2" Type="http://schemas.openxmlformats.org/officeDocument/2006/relationships/hyperlink" Target="https://www.rfc-editor.org/rfc/rfc9110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000.html" TargetMode="External"/><Relationship Id="rId2" Type="http://schemas.openxmlformats.org/officeDocument/2006/relationships/hyperlink" Target="https://www.rfc-editor.org/rfc/rfc9114.html" TargetMode="External"/><Relationship Id="rId3" Type="http://schemas.openxmlformats.org/officeDocument/2006/relationships/hyperlink" Target="https://developer.mozilla.org/en-US/docs/Web/HTTP/Reference/Headers/Alt-Svc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8446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rfc/rfc8446.html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525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ls-inspect.ps1" TargetMode="External"/><Relationship Id="rId2" Type="http://schemas.openxmlformats.org/officeDocument/2006/relationships/hyperlink" Target="../samples/tls-inspect-captures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letsencrypt.org/how-it-works/" TargetMode="External"/><Relationship Id="rId2" Type="http://schemas.openxmlformats.org/officeDocument/2006/relationships/hyperlink" Target="https://developer.mozilla.org/en-US/docs/Web/HTTP/Reference/Headers/Strict-Transport-Securit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../samples/campuspulse-fullstack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hyperlink" Target="../samples/campuspulse-fullstack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hyperlink" Target="../homework.md" TargetMode="External"/><Relationship Id="rId2" Type="http://schemas.openxmlformats.org/officeDocument/2006/relationships/hyperlink" Target="../../../docs/evidence-standard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hyperlink" Target="../../week05/prep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7788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55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 at Speed, Trust on the Wire, and First Deploy</a:t>
            </a:r>
            <a:endParaRPr lang="en-US" sz="5550" dirty="0"/>
          </a:p>
        </p:txBody>
      </p:sp>
      <p:sp>
        <p:nvSpPr>
          <p:cNvPr id="8" name="Text 6"/>
          <p:cNvSpPr/>
          <p:nvPr/>
        </p:nvSpPr>
        <p:spPr>
          <a:xfrm>
            <a:off x="685800" y="3931501"/>
            <a:ext cx="9525000" cy="9452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3985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Teaching, individual practice, and the end-of-class brief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581275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581275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 · Full session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1375" y="4991100"/>
            <a:ext cx="1533525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1375" y="4991100"/>
            <a:ext cx="1533525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2026-10-01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1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ship over HTTP every day. You have never chosen a version</a:t>
            </a:r>
            <a:endParaRPr lang="en-US" sz="3360" dirty="0"/>
          </a:p>
        </p:txBody>
      </p:sp>
      <p:sp>
        <p:nvSpPr>
          <p:cNvPr id="7" name="Text 5"/>
          <p:cNvSpPr/>
          <p:nvPr/>
        </p:nvSpPr>
        <p:spPr>
          <a:xfrm>
            <a:off x="685800" y="2118848"/>
            <a:ext cx="10820400" cy="2383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app speaks HTTP, but you did not pick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or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something else did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version is negotiated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wire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during the TLS handshake, by a step called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ALPN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not in your source code, your framework config, or your Dockerfile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methods, same status codes, same headers in every version — only the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changed</a:t>
            </a:r>
            <a:endParaRPr lang="en-US" sz="1920" dirty="0"/>
          </a:p>
        </p:txBody>
      </p:sp>
      <p:sp>
        <p:nvSpPr>
          <p:cNvPr id="8" name="Shape 6"/>
          <p:cNvSpPr/>
          <p:nvPr/>
        </p:nvSpPr>
        <p:spPr>
          <a:xfrm>
            <a:off x="685800" y="4609064"/>
            <a:ext cx="10820400" cy="1278770"/>
          </a:xfrm>
          <a:prstGeom prst="roundRect">
            <a:avLst>
              <a:gd name="adj" fmla="val 357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609064"/>
            <a:ext cx="76200" cy="127877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23364"/>
            <a:ext cx="10363200" cy="25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5020544"/>
            <a:ext cx="10363200" cy="714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HTTP version is a property of the connection, not of the code. To learn it, ask the connection — DevTools, </a:t>
            </a:r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-v</a:t>
            </a:r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or the server's logs.</a:t>
            </a:r>
            <a:endParaRPr lang="en-US" sz="180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173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3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HTTP/1.1: one answer at a time per connection</a:t>
            </a:r>
            <a:endParaRPr lang="en-US" sz="4032" dirty="0"/>
          </a:p>
        </p:txBody>
      </p:sp>
      <p:sp>
        <p:nvSpPr>
          <p:cNvPr id="7" name="Text 5"/>
          <p:cNvSpPr/>
          <p:nvPr/>
        </p:nvSpPr>
        <p:spPr>
          <a:xfrm>
            <a:off x="685800" y="2341449"/>
            <a:ext cx="10820400" cy="3324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1.1 connection carries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request/response at a time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in order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Keep-alive reuses the socket, so request two skips the TCP and TLS setup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a slow response blocks everything queued behind it —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head-of-line blocking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Browsers worked around it by opening about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connections per site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connections means six handshakes and six of everything else</a:t>
            </a:r>
            <a:endParaRPr lang="en-US" sz="2304" dirty="0"/>
          </a:p>
        </p:txBody>
      </p:sp>
      <p:sp>
        <p:nvSpPr>
          <p:cNvPr id="8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Connection management in HTTP/1.x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9112, HTTP/1.1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lane, or many lanes on one road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77670"/>
            <a:ext cx="10820400" cy="35258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035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HTTP/1.1 serialises responses on one connection; HTTP/2 interleaves them as frames on independent streams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619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HTTP/2: same meaning, new envelope, one connection</a:t>
            </a:r>
            <a:endParaRPr lang="en-US" sz="3192" dirty="0"/>
          </a:p>
        </p:txBody>
      </p:sp>
      <p:sp>
        <p:nvSpPr>
          <p:cNvPr id="7" name="Text 5"/>
          <p:cNvSpPr/>
          <p:nvPr/>
        </p:nvSpPr>
        <p:spPr>
          <a:xfrm>
            <a:off x="685800" y="2063197"/>
            <a:ext cx="10820400" cy="1620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 become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frames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each tagged with a stream ID, all on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TCP connection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Headers are compressed (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HPACK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so a big repeated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header costs bytes once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handlers do not change: HTTP/2 is a delivery upgrade, not an API change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catch: TCP delivers bytes strictly in order, so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lost packet stalls every stream</a:t>
            </a:r>
            <a:endParaRPr lang="en-US" sz="1824" dirty="0"/>
          </a:p>
        </p:txBody>
      </p:sp>
      <p:sp>
        <p:nvSpPr>
          <p:cNvPr id="8" name="Shape 6"/>
          <p:cNvSpPr/>
          <p:nvPr/>
        </p:nvSpPr>
        <p:spPr>
          <a:xfrm>
            <a:off x="685800" y="3784860"/>
            <a:ext cx="10820400" cy="1234644"/>
          </a:xfrm>
          <a:prstGeom prst="roundRect">
            <a:avLst>
              <a:gd name="adj" fmla="val 3703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784860"/>
            <a:ext cx="76200" cy="1234644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99160"/>
            <a:ext cx="10363200" cy="246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4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254" dirty="0"/>
          </a:p>
        </p:txBody>
      </p:sp>
      <p:sp>
        <p:nvSpPr>
          <p:cNvPr id="11" name="Text 9"/>
          <p:cNvSpPr/>
          <p:nvPr/>
        </p:nvSpPr>
        <p:spPr>
          <a:xfrm>
            <a:off x="914400" y="4183386"/>
            <a:ext cx="10363200" cy="6837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1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HTTP/2 fixed head-of-line blocking at the HTTP layer and inherited it at the TCP layer. On a lossy network one connection can lose to six HTTP/1.1 connections.</a:t>
            </a:r>
            <a:endParaRPr lang="en-US" sz="1715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9113, HTTP/2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9110, HTTP Semantics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173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3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HTTP/3: the same idea on a transport that knows about streams</a:t>
            </a:r>
            <a:endParaRPr lang="en-US" sz="4032" dirty="0"/>
          </a:p>
        </p:txBody>
      </p:sp>
      <p:sp>
        <p:nvSpPr>
          <p:cNvPr id="7" name="Text 5"/>
          <p:cNvSpPr/>
          <p:nvPr/>
        </p:nvSpPr>
        <p:spPr>
          <a:xfrm>
            <a:off x="685800" y="2341449"/>
            <a:ext cx="10820400" cy="3324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HTTP/3 runs over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transport built on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UDP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 knows about streams, so a lost packet stalls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its own stream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TLS 1.3 is built into QUIC, so setup takes fewer round trips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migration: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Wi-Fi to cellular keeps the same connection alive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Discovery: the server advertises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alt-svc: h3=":443"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next connection tries QUIC, and falls back to TCP if UDP is blocked</a:t>
            </a:r>
            <a:endParaRPr lang="en-US" sz="2304" dirty="0"/>
          </a:p>
        </p:txBody>
      </p:sp>
      <p:sp>
        <p:nvSpPr>
          <p:cNvPr id="8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9000, QUIC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9114, HTTP/3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Alt-Svc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three versions at a glance</a:t>
            </a:r>
            <a:endParaRPr lang="en-US" sz="3864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8397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51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HTTP/1.1</a:t>
                      </a:r>
                      <a:endParaRPr lang="en-US" sz="165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HTTP/2</a:t>
                      </a:r>
                      <a:endParaRPr lang="en-US" sz="165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HTTP/3</a:t>
                      </a:r>
                      <a:endParaRPr lang="en-US" sz="165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TCP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TCP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QUIC over UDP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77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Requests per connection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at a time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Many, interleaved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Many, independent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77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Head-of-line blocking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and TCP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TCP only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Removed between streams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 on the wire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 frames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 frames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Encryption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Optional (TLS)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TLS in practice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TLS 1.3 built in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app code changes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3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ALPN: the version is chosen inside the TLS handshake</a:t>
            </a:r>
            <a:endParaRPr lang="en-US" sz="3108" dirty="0"/>
          </a:p>
        </p:txBody>
      </p:sp>
      <p:sp>
        <p:nvSpPr>
          <p:cNvPr id="7" name="Shape 5"/>
          <p:cNvSpPr/>
          <p:nvPr/>
        </p:nvSpPr>
        <p:spPr>
          <a:xfrm>
            <a:off x="685800" y="2035372"/>
            <a:ext cx="10820400" cy="2588453"/>
          </a:xfrm>
          <a:prstGeom prst="roundRect">
            <a:avLst>
              <a:gd name="adj" fmla="val 212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3537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05442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capture — curl 8.5.0 against www.depaul.edu, 2026-08-15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84952"/>
            <a:ext cx="10439400" cy="2013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 -o /dev/null -v --http2 https://www.depaul.edu/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ALPN: curl offers h2,http/1.1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SSL connection using TLSv1.3 / TLS_AES_128_GCM_SHA256 / X25519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ALPN: server accepted h2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using HTTP/2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 </a:t>
            </a:r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 / HTTP/2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 HTTP/2 200</a:t>
            </a:r>
            <a:endParaRPr lang="en-US" sz="1332" dirty="0"/>
          </a:p>
        </p:txBody>
      </p:sp>
      <p:sp>
        <p:nvSpPr>
          <p:cNvPr id="11" name="Shape 9"/>
          <p:cNvSpPr/>
          <p:nvPr/>
        </p:nvSpPr>
        <p:spPr>
          <a:xfrm>
            <a:off x="685800" y="4736601"/>
            <a:ext cx="10820400" cy="1212580"/>
          </a:xfrm>
          <a:prstGeom prst="roundRect">
            <a:avLst>
              <a:gd name="adj" fmla="val 37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36601"/>
            <a:ext cx="76200" cy="121258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50901"/>
            <a:ext cx="10363200" cy="239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1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21" dirty="0"/>
          </a:p>
        </p:txBody>
      </p:sp>
      <p:sp>
        <p:nvSpPr>
          <p:cNvPr id="14" name="Text 12"/>
          <p:cNvSpPr/>
          <p:nvPr/>
        </p:nvSpPr>
        <p:spPr>
          <a:xfrm>
            <a:off x="914400" y="5128650"/>
            <a:ext cx="10363200" cy="668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client offers a list, the server picks one, and the choice is made </a:t>
            </a:r>
            <a:pPr algn="l" indent="0" marL="0">
              <a:lnSpc>
                <a:spcPct val="102256"/>
              </a:lnSpc>
              <a:buNone/>
            </a:pPr>
            <a:r>
              <a:rPr lang="en-US" sz="166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 single HTTP byte moves</a:t>
            </a:r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That is why HTTP versions and TLS are one topic.</a:t>
            </a:r>
            <a:endParaRPr lang="en-US" sz="166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second half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TLS: privacy, integrity, and a name you can trust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4397350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handshake, the certificate, the chain — and how to read all three on Windows.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64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TLS actually gives you, and the one thing it does not</a:t>
            </a:r>
            <a:endParaRPr lang="en-US" sz="3528" dirty="0"/>
          </a:p>
        </p:txBody>
      </p:sp>
      <p:sp>
        <p:nvSpPr>
          <p:cNvPr id="7" name="Text 5"/>
          <p:cNvSpPr/>
          <p:nvPr/>
        </p:nvSpPr>
        <p:spPr>
          <a:xfrm>
            <a:off x="685800" y="2174498"/>
            <a:ext cx="10820400" cy="17812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Confidentiality</a:t>
            </a:r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 observer on the Wi-Fi sees ciphertext, not your request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</a:t>
            </a:r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tampering is detected, not merely discouraged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authentication</a:t>
            </a:r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you are talking to the owner of that </a:t>
            </a:r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does </a:t>
            </a:r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say the site is honest, safe, or well run</a:t>
            </a:r>
            <a:endParaRPr lang="en-US" sz="2016" dirty="0"/>
          </a:p>
        </p:txBody>
      </p:sp>
      <p:sp>
        <p:nvSpPr>
          <p:cNvPr id="8" name="Shape 6"/>
          <p:cNvSpPr/>
          <p:nvPr/>
        </p:nvSpPr>
        <p:spPr>
          <a:xfrm>
            <a:off x="685800" y="4067763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067763"/>
            <a:ext cx="76200" cy="1322897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82063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386" dirty="0"/>
          </a:p>
        </p:txBody>
      </p:sp>
      <p:sp>
        <p:nvSpPr>
          <p:cNvPr id="11" name="Text 9"/>
          <p:cNvSpPr/>
          <p:nvPr/>
        </p:nvSpPr>
        <p:spPr>
          <a:xfrm>
            <a:off x="914400" y="4492197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padlock means the connection is private. A phishing site with a free certificate has a padlock too. TLS authenticates the </a:t>
            </a:r>
            <a:pPr algn="l" indent="0" marL="0">
              <a:lnSpc>
                <a:spcPct val="102256"/>
              </a:lnSpc>
              <a:buNone/>
            </a:pPr>
            <a:r>
              <a:rPr lang="en-US" sz="189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never the intent behind it.</a:t>
            </a:r>
            <a:endParaRPr lang="en-US" sz="1895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8446, TLS 1.3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round trip, and where the certificate shows up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6206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0368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TLS 1.3 completes in one round trip; the certificate arrives in the server's first flight and is encrypted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8446 §2, protocol overview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3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certificate is a signed, public statement about a name</a:t>
            </a:r>
            <a:endParaRPr lang="en-US" sz="3108" dirty="0"/>
          </a:p>
        </p:txBody>
      </p:sp>
      <p:sp>
        <p:nvSpPr>
          <p:cNvPr id="7" name="Text 5"/>
          <p:cNvSpPr/>
          <p:nvPr/>
        </p:nvSpPr>
        <p:spPr>
          <a:xfrm>
            <a:off x="685800" y="2035372"/>
            <a:ext cx="10820400" cy="2268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make a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key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It never leaves your server; nobody else ever sees it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authority (CA)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checks you control the domain, then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signs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your public key + names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certificate is public by design — every visitor receives it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Browsers match the hostname against the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 Alternative Name (SAN)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list, not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wildcard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*.example.edu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covers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label: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api.example.edu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✓,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a.b.example.edu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✗</a:t>
            </a:r>
            <a:endParaRPr lang="en-US" sz="1776" dirty="0"/>
          </a:p>
        </p:txBody>
      </p:sp>
      <p:sp>
        <p:nvSpPr>
          <p:cNvPr id="8" name="Shape 6"/>
          <p:cNvSpPr/>
          <p:nvPr/>
        </p:nvSpPr>
        <p:spPr>
          <a:xfrm>
            <a:off x="685800" y="4402068"/>
            <a:ext cx="10820400" cy="1212580"/>
          </a:xfrm>
          <a:prstGeom prst="roundRect">
            <a:avLst>
              <a:gd name="adj" fmla="val 37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402068"/>
            <a:ext cx="76200" cy="121258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16368"/>
            <a:ext cx="10363200" cy="239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1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21" dirty="0"/>
          </a:p>
        </p:txBody>
      </p:sp>
      <p:sp>
        <p:nvSpPr>
          <p:cNvPr id="11" name="Text 9"/>
          <p:cNvSpPr/>
          <p:nvPr/>
        </p:nvSpPr>
        <p:spPr>
          <a:xfrm>
            <a:off x="914400" y="4794117"/>
            <a:ext cx="10363200" cy="668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secret is the private key. A certificate in a screenshot is harmless; a private key in a screenshot is a compromise.</a:t>
            </a:r>
            <a:endParaRPr lang="en-US" sz="1669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9525, service identity in TLS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links, and only two of them travel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8873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035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 sends the leaf and the intermediates; the root is already on the client and is never sent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103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Demo: inspect a certificate on Windows, no OpenSSL</a:t>
            </a:r>
            <a:endParaRPr lang="en-US" sz="3108" dirty="0"/>
          </a:p>
        </p:txBody>
      </p:sp>
      <p:sp>
        <p:nvSpPr>
          <p:cNvPr id="9" name="Shape 7"/>
          <p:cNvSpPr/>
          <p:nvPr/>
        </p:nvSpPr>
        <p:spPr>
          <a:xfrm>
            <a:off x="685800" y="2579440"/>
            <a:ext cx="5238750" cy="3135560"/>
          </a:xfrm>
          <a:prstGeom prst="roundRect">
            <a:avLst>
              <a:gd name="adj" fmla="val 1458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693740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3036640"/>
            <a:ext cx="4781550" cy="25353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in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weeks/week04/samples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2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.\tls-inspect.ps1 www.depaul.edu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3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3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.\tls-inspect.ps1 expired.badssl.com</a:t>
            </a:r>
            <a:endParaRPr lang="en-US" sz="1824" dirty="0"/>
          </a:p>
        </p:txBody>
      </p:sp>
      <p:sp>
        <p:nvSpPr>
          <p:cNvPr id="12" name="Shape 10"/>
          <p:cNvSpPr/>
          <p:nvPr/>
        </p:nvSpPr>
        <p:spPr>
          <a:xfrm>
            <a:off x="6267450" y="2579440"/>
            <a:ext cx="5238750" cy="1755914"/>
          </a:xfrm>
          <a:prstGeom prst="roundRect">
            <a:avLst>
              <a:gd name="adj" fmla="val 2604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693740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3036640"/>
            <a:ext cx="4781550" cy="946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DePaul 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expired 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NotTimeValid</a:t>
            </a:r>
            <a:endParaRPr lang="en-US" sz="2208" dirty="0"/>
          </a:p>
        </p:txBody>
      </p:sp>
      <p:sp>
        <p:nvSpPr>
          <p:cNvPr id="15" name="Shape 13"/>
          <p:cNvSpPr/>
          <p:nvPr/>
        </p:nvSpPr>
        <p:spPr>
          <a:xfrm>
            <a:off x="6267450" y="4525854"/>
            <a:ext cx="5238750" cy="1189146"/>
          </a:xfrm>
          <a:prstGeom prst="roundRect">
            <a:avLst>
              <a:gd name="adj" fmla="val 3845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640154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983054"/>
            <a:ext cx="4781550" cy="6054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printouts on the next slides (</a:t>
            </a:r>
            <a:pPr algn="l" indent="0" marL="0">
              <a:lnSpc>
                <a:spcPct val="102256"/>
              </a:lnSpc>
              <a:buNone/>
            </a:pPr>
            <a:r>
              <a:rPr lang="en-US" sz="148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tls-inspect-captures.txt</a:t>
            </a:r>
            <a:pPr algn="l" indent="0" marL="0">
              <a:lnSpc>
                <a:spcPct val="102256"/>
              </a:lnSpc>
              <a:buNone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488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tls-inspect.ps1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output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3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 printout: the connection and the leaf certificate</a:t>
            </a:r>
            <a:endParaRPr lang="en-US" sz="3108" dirty="0"/>
          </a:p>
        </p:txBody>
      </p:sp>
      <p:sp>
        <p:nvSpPr>
          <p:cNvPr id="7" name="Shape 5"/>
          <p:cNvSpPr/>
          <p:nvPr/>
        </p:nvSpPr>
        <p:spPr>
          <a:xfrm>
            <a:off x="685800" y="2035372"/>
            <a:ext cx="10820400" cy="3309092"/>
          </a:xfrm>
          <a:prstGeom prst="roundRect">
            <a:avLst>
              <a:gd name="adj" fmla="val 165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3537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05442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capture — tls-inspect.ps1, PowerShell 7.6 (.NET), 2026-10-01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84952"/>
            <a:ext cx="10439400" cy="27337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 </a:t>
            </a:r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.\tls-inspect.ps1 www.depaul.edu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   : Tls12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     : TLS_ECDHE_RSA_WITH_AES_128_GCM_SHA256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 Leaf certificate ==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    : CN=www.depaul.edu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Issuer     : CN=YR1, O=Let's Encrypt, C=US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NotBefore  : 2026-09-22 17:53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NotAfter   : 2026-12-21 16:52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DaysLeft   : 81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        : DNS:www.depaul.edu</a:t>
            </a:r>
            <a:endParaRPr lang="en-US" sz="133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Thumbprint : ECD4BF7AE268F126C5F5E667E44396890BFC2610</a:t>
            </a:r>
            <a:endParaRPr lang="en-US" sz="1332" dirty="0"/>
          </a:p>
        </p:txBody>
      </p:sp>
      <p:sp>
        <p:nvSpPr>
          <p:cNvPr id="11" name="Text 9"/>
          <p:cNvSpPr/>
          <p:nvPr/>
        </p:nvSpPr>
        <p:spPr>
          <a:xfrm>
            <a:off x="685800" y="5457240"/>
            <a:ext cx="10820400" cy="4636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NotAfter − NotBefore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 days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renewal has to be automated</a:t>
            </a:r>
            <a:endParaRPr lang="en-US" sz="1776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59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 printout: the chain this device built, and the verdict</a:t>
            </a:r>
            <a:endParaRPr lang="en-US" sz="2856" dirty="0"/>
          </a:p>
        </p:txBody>
      </p:sp>
      <p:sp>
        <p:nvSpPr>
          <p:cNvPr id="7" name="Shape 5"/>
          <p:cNvSpPr/>
          <p:nvPr/>
        </p:nvSpPr>
        <p:spPr>
          <a:xfrm>
            <a:off x="685800" y="1951897"/>
            <a:ext cx="10820400" cy="3094848"/>
          </a:xfrm>
          <a:prstGeom prst="roundRect">
            <a:avLst>
              <a:gd name="adj" fmla="val 177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518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9709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capture — same run, continued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01477"/>
            <a:ext cx="10439400" cy="25195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 Chain built by this device (0 = leaf) ==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 Subject                                                   NotAfter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 -------                                                   --------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0 CN=www.depaul.edu                                         2026-12-21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1 CN=YR1, O=Let's Encrypt, C=US                             2028-09-02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2 CN=Root YR, O=ISRG, C=US                                  2032-09-02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3 CN=ISRG Root X1, O=Internet Security Research Group, C=US 2035-06-04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 Verdict ==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PolicyErrors : None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ChainStatus  : OK</a:t>
            </a:r>
            <a:endParaRPr lang="en-US" sz="1224" dirty="0"/>
          </a:p>
        </p:txBody>
      </p:sp>
      <p:sp>
        <p:nvSpPr>
          <p:cNvPr id="11" name="Text 9"/>
          <p:cNvSpPr/>
          <p:nvPr/>
        </p:nvSpPr>
        <p:spPr>
          <a:xfrm>
            <a:off x="685800" y="5150376"/>
            <a:ext cx="10820400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it came from this device's trust store, not the server</a:t>
            </a:r>
            <a:endParaRPr lang="en-US" sz="1632" dirty="0"/>
          </a:p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PolicyErrors : None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same decision Edge makes before it draws the padlock</a:t>
            </a:r>
            <a:endParaRPr lang="en-US" sz="163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1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Windows: where "trusted" actually lives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685800" y="1547841"/>
            <a:ext cx="10820400" cy="2770236"/>
          </a:xfrm>
          <a:prstGeom prst="roundRect">
            <a:avLst>
              <a:gd name="adj" fmla="val 198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4784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6689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— Windows 11 output shape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97421"/>
            <a:ext cx="10439400" cy="219492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Get-ChildItem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Cert:\LocalMachine\Root |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  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Where-Object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Subject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-like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'*ISRG Root X1*'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  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Format-List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Subject, Thumbprint, NotAfter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    : CN=ISRG Root X1, O=Internet Security Research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C=US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Thumbprint : CABD2A79A1076A31F21D253635CB039D4329A5E8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NotAfter   :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2035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AM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 certutil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-dump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.\depaul.cer |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Select-String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'Subject|NotAfter|DNS'</a:t>
            </a:r>
            <a:endParaRPr lang="en-US" sz="1296" dirty="0"/>
          </a:p>
        </p:txBody>
      </p:sp>
      <p:sp>
        <p:nvSpPr>
          <p:cNvPr id="11" name="Text 9"/>
          <p:cNvSpPr/>
          <p:nvPr/>
        </p:nvSpPr>
        <p:spPr>
          <a:xfrm>
            <a:off x="685800" y="4427805"/>
            <a:ext cx="10820400" cy="1484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 equivalent: run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certlm.msc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Trusted Root Certification Authorities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downloads roots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demand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the list grows as you visit sites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.\tls-inspect.ps1 www.depaul.edu -SaveCertificate depaul.cer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creates the file for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certutil</a:t>
            </a:r>
            <a:endParaRPr lang="en-US" sz="172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Windows, no command line: Edge's certificate viewer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clicks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685800" y="2909171"/>
            <a:ext cx="5219700" cy="30553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https://www.depaul.edu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the icon left of the address bar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is secure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4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the certificate icon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5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Details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5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tab: issuer, validity, SAN, and the chain</a:t>
            </a:r>
            <a:endParaRPr lang="en-US" sz="2112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to point at</a:t>
            </a:r>
            <a:endParaRPr lang="en-US" sz="1980" dirty="0"/>
          </a:p>
        </p:txBody>
      </p:sp>
      <p:sp>
        <p:nvSpPr>
          <p:cNvPr id="10" name="Text 8"/>
          <p:cNvSpPr/>
          <p:nvPr/>
        </p:nvSpPr>
        <p:spPr>
          <a:xfrm>
            <a:off x="6286500" y="2909171"/>
            <a:ext cx="5219700" cy="2612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Issued to / by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Subject and Issuer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from / to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90-day window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Subject Alternative Name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names covered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Hierarchy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root, intermediate, leaf</a:t>
            </a:r>
            <a:endParaRPr lang="en-US" sz="211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failures, and how each client reports them</a:t>
            </a:r>
            <a:endParaRPr lang="en-US" sz="4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97100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79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*.badssl.com site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Edge shows NET::ERR_CERT_…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PowerShell 7 says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500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DATE_INVALID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NotTimeValid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500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wrong.host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COMMON_NAME_INVALID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NameMismatch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500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self-signed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AUTHORITY_INVALID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UntrustedRoot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500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incomplete-chain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often loads (the trap)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often passes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85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4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Reference for macOS and Linux: the same checks with OpenSSL</a:t>
            </a:r>
            <a:endParaRPr lang="en-US" sz="2940" dirty="0"/>
          </a:p>
        </p:txBody>
      </p:sp>
      <p:sp>
        <p:nvSpPr>
          <p:cNvPr id="7" name="Shape 5"/>
          <p:cNvSpPr/>
          <p:nvPr/>
        </p:nvSpPr>
        <p:spPr>
          <a:xfrm>
            <a:off x="685800" y="1979722"/>
            <a:ext cx="10820400" cy="3393491"/>
          </a:xfrm>
          <a:prstGeom prst="roundRect">
            <a:avLst>
              <a:gd name="adj" fmla="val 161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7972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99877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/ Linux reference — not run in class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29302"/>
            <a:ext cx="10439400" cy="28181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Leaf fields (subject, issuer, dates, SAN)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 s_client -connect www.depaul.edu:443 -servername www.depaul.edu \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&lt;/dev/null 2&gt;/dev/null | openssl x509 -noout -subject -issuer -dates \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-ext subjectAltName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Full chain the server sends, and the verify result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 s_client -connect www.depaul.edu:443 -servername www.depaul.edu \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-showcerts &lt;/dev/null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ALPN: which HTTP version does the server pick?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 s_client -connect www.depaul.edu:443 -servername www.depaul.edu \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-alpn h2,http/1.1 &lt;/dev/null 2&gt;/dev/null | grep -i alpn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5479893"/>
            <a:ext cx="10820400" cy="443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pass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-servername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without SNI, a shared host may return the 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</a:t>
            </a:r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certificate</a:t>
            </a:r>
            <a:endParaRPr lang="en-US" sz="16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38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Keeping HTTPS working: automate, then watch the automation</a:t>
            </a:r>
            <a:endParaRPr lang="en-US" sz="3444" dirty="0"/>
          </a:p>
        </p:txBody>
      </p:sp>
      <p:sp>
        <p:nvSpPr>
          <p:cNvPr id="7" name="Text 5"/>
          <p:cNvSpPr/>
          <p:nvPr/>
        </p:nvSpPr>
        <p:spPr>
          <a:xfrm>
            <a:off x="685800" y="2146673"/>
            <a:ext cx="10820400" cy="35530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Certificates now last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 days or less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renewal must be automatic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ACME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(Let's Encrypt and most hosts) proves you control the domain, then issues and renews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Platforms like Azure App Service, Netlify, and Vercel run ACME for you — you just add the domain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fails silently, so monitor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until expiry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(the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DaysLeft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field) and alert well before zero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HSTS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Strict-Transport-Security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tells browsers to use HTTPS only — and makes an expired cert a hard outage</a:t>
            </a:r>
            <a:endParaRPr lang="en-US" sz="1968" dirty="0"/>
          </a:p>
        </p:txBody>
      </p:sp>
      <p:sp>
        <p:nvSpPr>
          <p:cNvPr id="8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Encrypt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 works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Strict-Transport-Security</a:t>
            </a:r>
            <a:endParaRPr lang="en-US" sz="12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and TLS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silent write (3 min) → cold call (4 min) → debrief (3 min)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2662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claims. Which hold up, and what evidence settles each?</a:t>
            </a:r>
            <a:endParaRPr lang="en-US" sz="3864" dirty="0"/>
          </a:p>
        </p:txBody>
      </p:sp>
      <p:sp>
        <p:nvSpPr>
          <p:cNvPr id="10" name="Text 8"/>
          <p:cNvSpPr/>
          <p:nvPr/>
        </p:nvSpPr>
        <p:spPr>
          <a:xfrm>
            <a:off x="685800" y="3409749"/>
            <a:ext cx="10820400" cy="2264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Font typeface="+mj-lt"/>
              <a:buAutoNum type="arabicPeriod" startAt="1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"We enabled HTTP/2, so a lost packet no longer blocks other responses."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Font typeface="+mj-lt"/>
              <a:buAutoNum type="arabicPeriod" startAt="2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login page has a padlock, so the site is safe to trust with my password."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"It loads in Edge on my Windows laptop, so our certificate chain is configured correctly."</a:t>
            </a:r>
            <a:endParaRPr lang="en-US" sz="2208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Calling your API from the frontend with axios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97100"/>
            <a:ext cx="10820400" cy="50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configured client, one function per endpoint, one error type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036418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React app and your API are two programs on two ports. This block is the code in the browser that connects them.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programs, two ports, one HTTP conversation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8873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035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loads the app from one origin and calls the API on another; axios is the code that makes those calls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fetch is built in. Why reach for axios?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992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25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algn="l" indent="0" marL="0">
              <a:lnSpc>
                <a:spcPct val="90000"/>
              </a:lnSpc>
              <a:buNone/>
            </a:pPr>
            <a:r>
              <a:rPr lang="en-US" sz="202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(built in)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685800" y="2918298"/>
            <a:ext cx="521970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install, works everywhere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resolves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you must check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res.ok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call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JSON.stringify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res.json()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yourself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Timeouts need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AbortSignal.timeout()</a:t>
            </a:r>
            <a:endParaRPr lang="en-US" sz="2160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992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25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</a:t>
            </a:r>
            <a:pPr algn="l" indent="0" marL="0">
              <a:lnSpc>
                <a:spcPct val="90000"/>
              </a:lnSpc>
              <a:buNone/>
            </a:pPr>
            <a:r>
              <a:rPr lang="en-US" sz="202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(npm package)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6286500" y="2918298"/>
            <a:ext cx="521970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Rejects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any non-2xx status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objects as JSON; parses JSON into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baseURL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built in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Interceptors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 on every request and response</a:t>
            </a:r>
            <a:endParaRPr lang="en-US" sz="21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1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1: one configured client for the whole app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685800" y="1547841"/>
            <a:ext cx="10820400" cy="3198724"/>
          </a:xfrm>
          <a:prstGeom prst="roundRect">
            <a:avLst>
              <a:gd name="adj" fmla="val 1715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47841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6689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frontend/src/api/client.ts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97421"/>
            <a:ext cx="10439400" cy="262341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axios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"axios"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API_URL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?.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VITE_API_URL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??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"http://localhost:3001/api"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 = axios.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baseURL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F3B4C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API_URL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 every call is relative to this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  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 fail fast instead of spinning forever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{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"application/json"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4" dirty="0"/>
          </a:p>
        </p:txBody>
      </p:sp>
      <p:sp>
        <p:nvSpPr>
          <p:cNvPr id="11" name="Text 9"/>
          <p:cNvSpPr/>
          <p:nvPr/>
        </p:nvSpPr>
        <p:spPr>
          <a:xfrm>
            <a:off x="685800" y="4856293"/>
            <a:ext cx="10820400" cy="11228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request in the app goes through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never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axios.get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a full URL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base URL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by environment: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VITE_API_URL=https://api.example.edu/api</a:t>
            </a:r>
            <a:endParaRPr lang="en-US" sz="1728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0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2: one function per endpoint</a:t>
            </a:r>
            <a:endParaRPr lang="en-US" sz="336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8064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6579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Function in incidents.ts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Success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/incidents?status=&amp;q=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listIncidents(filters, signal)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+ { items, count }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34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/incidents/:id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getIncident(id)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+ incident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/incidents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createIncident({ title, service })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 + Location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/incidents/:id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replaceIncident(incident)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+ incident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/incidents/:id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updateStatus(id, status)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+ incident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34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DELETE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/incidents/:id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deleteIncident(id)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204, no body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63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Reading: GET with query parameters</a:t>
            </a:r>
            <a:endParaRPr lang="en-US" sz="3108" dirty="0"/>
          </a:p>
        </p:txBody>
      </p:sp>
      <p:sp>
        <p:nvSpPr>
          <p:cNvPr id="7" name="Shape 5"/>
          <p:cNvSpPr/>
          <p:nvPr/>
        </p:nvSpPr>
        <p:spPr>
          <a:xfrm>
            <a:off x="685800" y="1562897"/>
            <a:ext cx="10820400" cy="3749482"/>
          </a:xfrm>
          <a:prstGeom prst="roundRect">
            <a:avLst>
              <a:gd name="adj" fmla="val 1463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62897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819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frontend/src/api/incidents.ts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12477"/>
            <a:ext cx="10439400" cy="31741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GET /incidents?status=…&amp;q=…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listIncidents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{},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?: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AbortSignal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data } =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api.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&lt;{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[];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}&gt;(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"/incidents"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{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filters, signal });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data.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GET /incidents/:id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getIncident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data } =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api.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`/incidents/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encodeURIComponent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(id)}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data;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14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21" dirty="0"/>
          </a:p>
        </p:txBody>
      </p:sp>
      <p:sp>
        <p:nvSpPr>
          <p:cNvPr id="11" name="Text 9"/>
          <p:cNvSpPr/>
          <p:nvPr/>
        </p:nvSpPr>
        <p:spPr>
          <a:xfrm>
            <a:off x="685800" y="5425155"/>
            <a:ext cx="10820400" cy="4636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builds and encodes the query: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?status=monitoring&amp;q=wi+fi</a:t>
            </a:r>
            <a:endParaRPr lang="en-US" sz="1776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1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Creating: POST sends a body and gets back 201 + Location</a:t>
            </a:r>
            <a:endParaRPr lang="en-US" sz="3360" dirty="0"/>
          </a:p>
        </p:txBody>
      </p:sp>
      <p:sp>
        <p:nvSpPr>
          <p:cNvPr id="7" name="Shape 5"/>
          <p:cNvSpPr/>
          <p:nvPr/>
        </p:nvSpPr>
        <p:spPr>
          <a:xfrm>
            <a:off x="685800" y="2118848"/>
            <a:ext cx="10820400" cy="2711806"/>
          </a:xfrm>
          <a:prstGeom prst="roundRect">
            <a:avLst>
              <a:gd name="adj" fmla="val 2023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18848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13789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frontend/src/api/incidents.ts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568428"/>
            <a:ext cx="10439400" cy="21364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POST /incidents — axios serializes the object to JSON and sets Content-Type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createIncident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NewIncident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response =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api.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"/incidents"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input);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response.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response.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"location"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};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usage in a component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createIncident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"Printers offline"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"printing"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});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4952573"/>
            <a:ext cx="108204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a plain object: axios sends JSON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sets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 application/json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name = HTTP verb, first argument = path, second = body</a:t>
            </a:r>
            <a:endParaRPr lang="en-US" sz="19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Updating and deleting</a:t>
            </a:r>
            <a:endParaRPr lang="en-US" sz="3696" dirty="0"/>
          </a:p>
        </p:txBody>
      </p:sp>
      <p:sp>
        <p:nvSpPr>
          <p:cNvPr id="7" name="Shape 5"/>
          <p:cNvSpPr/>
          <p:nvPr/>
        </p:nvSpPr>
        <p:spPr>
          <a:xfrm>
            <a:off x="685800" y="1668286"/>
            <a:ext cx="10820400" cy="4237482"/>
          </a:xfrm>
          <a:prstGeom prst="roundRect">
            <a:avLst>
              <a:gd name="adj" fmla="val 1295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68286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8733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frontend/src/api/incidents.ts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17866"/>
            <a:ext cx="10439400" cy="36621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PUT — send the whole editable record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replaceIncident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id, title, service, status } = incident;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url =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`/incidents/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EEAD4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encodeURIComponent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(id)}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api.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&gt;(url, { title, service, status })).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PATCH — send only what changed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updateStatus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url =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`/incidents/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EEAD4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encodeURIComponent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(id)}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api.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&gt;(url, { status })).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DELETE — 204, no body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deleteIncident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EEAD4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14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api.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`/incidents/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encodeURIComponent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(id)}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15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3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comes back: </a:t>
            </a:r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or one of two kinds of error</a:t>
            </a:r>
            <a:endParaRPr lang="en-US" sz="3108" dirty="0"/>
          </a:p>
        </p:txBody>
      </p:sp>
      <p:sp>
        <p:nvSpPr>
          <p:cNvPr id="7" name="Text 5"/>
          <p:cNvSpPr/>
          <p:nvPr/>
        </p:nvSpPr>
        <p:spPr>
          <a:xfrm>
            <a:off x="685800" y="2035372"/>
            <a:ext cx="10820400" cy="1895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(2xx):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response.data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parsed JSON; also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 answered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4xx/5xx: axios rejects;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error.response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holds status and body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answer at all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server down, DNS, timeout — or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 by CORS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error.response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hides the reason for a CORS block from your code on purpose — read the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</a:t>
            </a:r>
            <a:endParaRPr lang="en-US" sz="1776" dirty="0"/>
          </a:p>
        </p:txBody>
      </p:sp>
      <p:sp>
        <p:nvSpPr>
          <p:cNvPr id="8" name="Shape 6"/>
          <p:cNvSpPr/>
          <p:nvPr/>
        </p:nvSpPr>
        <p:spPr>
          <a:xfrm>
            <a:off x="685800" y="4029907"/>
            <a:ext cx="10820400" cy="1212580"/>
          </a:xfrm>
          <a:prstGeom prst="roundRect">
            <a:avLst>
              <a:gd name="adj" fmla="val 37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029907"/>
            <a:ext cx="76200" cy="121258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44207"/>
            <a:ext cx="10363200" cy="239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1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21" dirty="0"/>
          </a:p>
        </p:txBody>
      </p:sp>
      <p:sp>
        <p:nvSpPr>
          <p:cNvPr id="11" name="Text 9"/>
          <p:cNvSpPr/>
          <p:nvPr/>
        </p:nvSpPr>
        <p:spPr>
          <a:xfrm>
            <a:off x="914400" y="4421956"/>
            <a:ext cx="10363200" cy="668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error.response</a:t>
            </a:r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present → read the server's message. Absent → it is a network problem, and the console and Network tab hold the real reason.</a:t>
            </a:r>
            <a:endParaRPr lang="en-US" sz="1669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108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Interceptors: code that runs on every request and response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685800" y="2007547"/>
            <a:ext cx="10820400" cy="2614422"/>
          </a:xfrm>
          <a:prstGeom prst="roundRect">
            <a:avLst>
              <a:gd name="adj" fmla="val 2099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07547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02659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frontend/src/api/client.ts (abridged)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57127"/>
            <a:ext cx="10439400" cy="20391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interceptors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config.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"X-Request-Id"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crypto.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randomUUID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config;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interceptors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response,                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2xx: pass through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Promise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toApiError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(error)),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 anything else: normalize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731697"/>
            <a:ext cx="10820400" cy="11777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interceptor: add headers every call needs — a request ID, later an auth token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interceptor: turn every failure into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error type the UI understands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sample also logs each call into an in-app activity table (see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client.ts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728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error type for the whole UI</a:t>
            </a:r>
            <a:endParaRPr lang="en-US" sz="3696" dirty="0"/>
          </a:p>
        </p:txBody>
      </p:sp>
      <p:sp>
        <p:nvSpPr>
          <p:cNvPr id="7" name="Shape 5"/>
          <p:cNvSpPr/>
          <p:nvPr/>
        </p:nvSpPr>
        <p:spPr>
          <a:xfrm>
            <a:off x="685800" y="1668286"/>
            <a:ext cx="10820400" cy="4285092"/>
          </a:xfrm>
          <a:prstGeom prst="roundRect">
            <a:avLst>
              <a:gd name="adj" fmla="val 1280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68286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8733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frontend/src/api/client.ts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17866"/>
            <a:ext cx="10439400" cy="37097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(error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instanceof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error;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already normalized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(axios.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isCancel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(error))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"canceled"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"Request canceled"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(!(error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instanceof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"network"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(error));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(error.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===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"ECONNABORTED"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|| error.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===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"ETIMEDOUT"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"timeout"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`No answer in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${api.defaults.timeout}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ms`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(error.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                     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server answered 4xx/5xx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body = error.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ErrorBody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body?.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?? error.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error.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body?.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}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"network"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           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down, DNS, TLS, or CORS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"Network error — is the API running and is this origin allowed (CORS)?"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91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94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kinds of failure, four different messages</a:t>
            </a:r>
            <a:endParaRPr lang="en-US" sz="3948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13624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572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9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kind</a:t>
                      </a:r>
                      <a:endParaRPr lang="en-US" sz="169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9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happened</a:t>
                      </a:r>
                      <a:endParaRPr lang="en-US" sz="169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9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 user should see</a:t>
                      </a:r>
                      <a:endParaRPr lang="en-US" sz="169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1100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answered 4xx/5xx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server's message: "title must be 3-120 characters"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810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timeout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answer within timeout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"The API is slow — try again"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90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answer: down, offline, CORS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"Can't reach the API"; details in the console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810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canceled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code aborted it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Nothing — it was intentional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25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Calling it from React, and cancelling stale requests</a:t>
            </a:r>
            <a:endParaRPr lang="en-US" sz="2856" dirty="0"/>
          </a:p>
        </p:txBody>
      </p:sp>
      <p:sp>
        <p:nvSpPr>
          <p:cNvPr id="7" name="Shape 5"/>
          <p:cNvSpPr/>
          <p:nvPr/>
        </p:nvSpPr>
        <p:spPr>
          <a:xfrm>
            <a:off x="685800" y="1517730"/>
            <a:ext cx="10820400" cy="3047238"/>
          </a:xfrm>
          <a:prstGeom prst="roundRect">
            <a:avLst>
              <a:gd name="adj" fmla="val 1800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17730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3678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frontend/src/App.tsx (abridged)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67310"/>
            <a:ext cx="10439400" cy="24719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controller 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AbortController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setLoading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listIncidents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 status, q }, controller.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setIncidents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(items);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 })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(err.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!==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"canceled"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(err));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})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(!controller.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aborted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setLoading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 });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controller.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on filter change or unmount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 [status, q, reload]);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668600"/>
            <a:ext cx="10820400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the abort, a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old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answer can arrive last and overwrite the new one</a:t>
            </a:r>
            <a:endParaRPr lang="en-US" sz="1632" dirty="0"/>
          </a:p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Mutations use one wrapper: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run(() =&gt; updateStatus(id, "resolved"))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reload the list</a:t>
            </a:r>
            <a:endParaRPr lang="en-US" sz="1632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619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wire actually carried: a create, and a rejected create</a:t>
            </a:r>
            <a:endParaRPr lang="en-US" sz="3192" dirty="0"/>
          </a:p>
        </p:txBody>
      </p:sp>
      <p:sp>
        <p:nvSpPr>
          <p:cNvPr id="7" name="Shape 5"/>
          <p:cNvSpPr/>
          <p:nvPr/>
        </p:nvSpPr>
        <p:spPr>
          <a:xfrm>
            <a:off x="685800" y="2063197"/>
            <a:ext cx="10820400" cy="3832799"/>
          </a:xfrm>
          <a:prstGeom prst="roundRect">
            <a:avLst>
              <a:gd name="adj" fmla="val 143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631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0822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capture — sample API on localhost:3001, 2026-10-01 (abridged)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512777"/>
            <a:ext cx="10439400" cy="32574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-i -X POST localhost:3001/api/incidents \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'Content-Type: application/json'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-H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'Origin: http://localhost:5173'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-d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'{"title":"Library printers offline","service":"printing"}'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HTTP/1.1 201 Created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Access-Control-Allow-Origin: http://localhost:5173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Access-Control-Expose-Headers: Location,X-Request-Id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 /api/incidents/1bd5e680-a677-44b2-ac5f-9d616759c1b5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{"id":"1bd5e680-…","title":"Library printers offline",…}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-i -X POST localhost:3001/api/incidents \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'Content-Type: application/json'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-d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'{"title":"","service":"toaster"}'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HTTP/1.1 400 Bad Request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{"error":{"code":"validation_failed",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"message":"title must be 3-120 characters"}}</a:t>
            </a:r>
            <a:endParaRPr lang="en-US" sz="1254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640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Demo: watch axios talk to the API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183583"/>
            <a:ext cx="5238750" cy="3531417"/>
          </a:xfrm>
          <a:prstGeom prst="roundRect">
            <a:avLst>
              <a:gd name="adj" fmla="val 129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640783"/>
            <a:ext cx="4781550" cy="29175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Backend: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start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frontend: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run dev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2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2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2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DevTools → Network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3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Create, rename (PUT), change status (PATCH), delete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4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Slow-request panel: Cancel, then let it time out</a:t>
            </a:r>
            <a:endParaRPr lang="en-US" sz="1824" dirty="0"/>
          </a:p>
        </p:txBody>
      </p:sp>
      <p:sp>
        <p:nvSpPr>
          <p:cNvPr id="12" name="Shape 10"/>
          <p:cNvSpPr/>
          <p:nvPr/>
        </p:nvSpPr>
        <p:spPr>
          <a:xfrm>
            <a:off x="6267450" y="2183583"/>
            <a:ext cx="5238750" cy="1977594"/>
          </a:xfrm>
          <a:prstGeom prst="roundRect">
            <a:avLst>
              <a:gd name="adj" fmla="val 2312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640783"/>
            <a:ext cx="4781550" cy="946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preflights, then 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</a:t>
            </a:r>
            <a:endParaRPr lang="en-US" sz="2208" dirty="0"/>
          </a:p>
        </p:txBody>
      </p:sp>
      <p:sp>
        <p:nvSpPr>
          <p:cNvPr id="15" name="Shape 13"/>
          <p:cNvSpPr/>
          <p:nvPr/>
        </p:nvSpPr>
        <p:spPr>
          <a:xfrm>
            <a:off x="6267450" y="4351676"/>
            <a:ext cx="5238750" cy="1363324"/>
          </a:xfrm>
          <a:prstGeom prst="roundRect">
            <a:avLst>
              <a:gd name="adj" fmla="val 3354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465976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808876"/>
            <a:ext cx="4781550" cy="472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</a:t>
            </a:r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</a:t>
            </a:r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run </a:t>
            </a:r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test</a:t>
            </a:r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208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campuspulse-fullstack sample</a:t>
            </a:r>
            <a:endParaRPr lang="en-US" sz="12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silent write (3 min) → cold call (4 min) → debrief (3 min)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Predict what the user sees, and which part of the code decides it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3521050"/>
            <a:ext cx="10820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API is stopped and the page loads.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user submits a new incident with the title "Hi".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user types "wifi" quickly into the search box on a slow network.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Building the API the frontend calls: Express and CORS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97100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Routes, status codes, one error shape, and the browser rule that decides who may read the answer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450946"/>
            <a:ext cx="108204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B wrote the calls. This block writes the program that answers them — and the one browser rule that can make a perfectly good answer unreadable.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Any language works: the contract is the same four things</a:t>
            </a:r>
            <a:endParaRPr lang="en-US" sz="4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97100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need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Express (Node)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FastAPI (Python)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ASP.NET Core (C#)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830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route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app.get(path, h)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@app.get(path)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app.MapGet(path, h)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500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 body in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req.body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typed parameter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typed parameter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830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 + JSON out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res.status(201).json(x)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status_code=201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Results.Created(…)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5008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Allow an origin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cors(…)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CORSMiddleware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UseCors(…)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1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Setup: two packages, one entry point, one port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685800" y="1547841"/>
            <a:ext cx="10820400" cy="3263646"/>
          </a:xfrm>
          <a:prstGeom prst="roundRect">
            <a:avLst>
              <a:gd name="adj" fmla="val 1681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47841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6689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backend/src/server.mjs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97421"/>
            <a:ext cx="10439400" cy="26883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Entry point: node src/server.mjs  (PORT and CORS_ORIGINS are optional)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createApp }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"./app.mjs"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parseOrigins }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"./cors-options.mjs"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port 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(process.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??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3001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allowedOrigins 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parseOrigins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(process.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CORS_ORIGINS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app 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createApp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 allowedOrigins,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(line) });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(port,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`CampusPulse API on http://localhost: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${port}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/api`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`CORS allowlist: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${allowedOrigins.join(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 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)}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921215"/>
            <a:ext cx="10820400" cy="8156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install express cors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start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run dev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restarts on save (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--watch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and allowlist come from the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production changes config, not code</a:t>
            </a:r>
            <a:endParaRPr lang="en-US" sz="1728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38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Middleware runs top to bottom, so order is a design decision</a:t>
            </a:r>
            <a:endParaRPr lang="en-US" sz="3444" dirty="0"/>
          </a:p>
        </p:txBody>
      </p:sp>
      <p:sp>
        <p:nvSpPr>
          <p:cNvPr id="7" name="Shape 5"/>
          <p:cNvSpPr/>
          <p:nvPr/>
        </p:nvSpPr>
        <p:spPr>
          <a:xfrm>
            <a:off x="685800" y="2146673"/>
            <a:ext cx="10820400" cy="2530023"/>
          </a:xfrm>
          <a:prstGeom prst="roundRect">
            <a:avLst>
              <a:gd name="adj" fmla="val 2169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46673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16572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backend/src/app.mjs (inside createApp)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596253"/>
            <a:ext cx="10439400" cy="19547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app.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cors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corsOptions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(allowedOrigins)));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 answers allowed preflights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A refused preflight falls through to here: 204 with no CORS headers.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app.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"/{*any}"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req, res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res.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app.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(express.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"16kb"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}));   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 JSON body -&gt; req.body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...request-id middleware (sets X-Request-Id on every response)...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app.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"/api/healthz"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req, res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res.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}));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app.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"/api/incidents"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incidentsRouter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(store));</a:t>
            </a:r>
            <a:endParaRPr lang="en-US" sz="129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91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...then the JSON 404, then the error handler (slide 7)</a:t>
            </a:r>
            <a:endParaRPr lang="en-US" sz="1291" dirty="0"/>
          </a:p>
        </p:txBody>
      </p:sp>
      <p:sp>
        <p:nvSpPr>
          <p:cNvPr id="11" name="Text 9"/>
          <p:cNvSpPr/>
          <p:nvPr/>
        </p:nvSpPr>
        <p:spPr>
          <a:xfrm>
            <a:off x="685800" y="4801664"/>
            <a:ext cx="10820400" cy="9162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 first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even a 404 or a 400 carries the headers the browser needs to read it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express.json()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before routes, or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req.body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endParaRPr lang="en-US" sz="1968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38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resource, five methods, and the status code each returns</a:t>
            </a:r>
            <a:endParaRPr lang="en-US" sz="3444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46673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207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 + path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Does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Success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Fails with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 /incidents?status=&amp;q=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{ items, count }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415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 /incidents/:id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one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404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415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 /incidents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 + Location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415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PUT /incidents/:id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Replace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400, 404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415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 /incidents/:id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status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400, 404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DELETE /incidents/:id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Remove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204, no body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404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34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77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route handler: validate, act, then answer with status + JSON</a:t>
            </a:r>
            <a:endParaRPr lang="en-US" sz="2772" dirty="0"/>
          </a:p>
        </p:txBody>
      </p:sp>
      <p:sp>
        <p:nvSpPr>
          <p:cNvPr id="7" name="Shape 5"/>
          <p:cNvSpPr/>
          <p:nvPr/>
        </p:nvSpPr>
        <p:spPr>
          <a:xfrm>
            <a:off x="685800" y="1924071"/>
            <a:ext cx="10820400" cy="2830830"/>
          </a:xfrm>
          <a:prstGeom prst="roundRect">
            <a:avLst>
              <a:gd name="adj" fmla="val 1938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24071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94312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backend/src/incidents.mjs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373651"/>
            <a:ext cx="10439400" cy="22555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POST /api/incidents — create; 201 + Location header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req, res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body 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requireObject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incident = store.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readTitle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(body),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readService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(body),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"investigating"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});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res.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`/api/incidents/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${incident.id}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(incident);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855485"/>
            <a:ext cx="10820400" cy="7552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readTitle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trims, checks 3–120 characters, else 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 bad("title must be 3-120 characters")</a:t>
            </a:r>
            <a:endParaRPr lang="en-US" sz="1584" dirty="0"/>
          </a:p>
          <a:p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bad(...)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an 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HttpError(400, "validation_failed", …)</a:t>
            </a:r>
            <a:pPr algn="l" marL="342900" indent="-342900">
              <a:lnSpc>
                <a:spcPct val="105263"/>
              </a:lnSpc>
              <a:spcAft>
                <a:spcPts val="396"/>
              </a:spcAft>
              <a:buSzPct val="100000"/>
              <a:buChar char="▪"/>
            </a:pPr>
            <a:r>
              <a:rPr lang="en-US" sz="158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error handler turns it into JSON</a:t>
            </a:r>
            <a:endParaRPr lang="en-US" sz="1584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108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error leaves in one JSON shape the frontend already reads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685800" y="2007547"/>
            <a:ext cx="10820400" cy="3047238"/>
          </a:xfrm>
          <a:prstGeom prst="roundRect">
            <a:avLst>
              <a:gd name="adj" fmla="val 1800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07547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02659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backend/src/app.mjs (error handler, last middleware)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57127"/>
            <a:ext cx="10439400" cy="24719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err, req, res, next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(res.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headersSent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(err);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status = err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instanceof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? 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: 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??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code = err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instanceof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? 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: 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===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"entity.parse.failed"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?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"invalid_json"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: 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===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"entity.too.large"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?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"too_large"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"internal_error"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message = status &gt;=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?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"unexpected server error"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: 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(status &gt;=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`ERROR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${err.stack ?? err}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res.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(status).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{ code, message } });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164513"/>
            <a:ext cx="10820400" cy="8156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 error: { code, message } }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exactly the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ErrorBody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type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toApiError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reads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5xx: log the stack, send a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message — never leak internals</a:t>
            </a:r>
            <a:endParaRPr lang="en-US" sz="1728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CORS: who may read the answer</a:t>
            </a:r>
            <a:endParaRPr lang="en-US" sz="4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4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Origin = scheme + host + port; change one and it is cross-origin</a:t>
            </a:r>
            <a:endParaRPr lang="en-US" sz="378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57974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450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origin</a:t>
                      </a:r>
                      <a:endParaRPr lang="en-US" sz="16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Request to</a:t>
                      </a:r>
                      <a:endParaRPr lang="en-US" sz="16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origin?</a:t>
                      </a:r>
                      <a:endParaRPr lang="en-US" sz="16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67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http://localhost:5173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http://localhost:5173/api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— nothing differs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67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http://localhost:5173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http://localhost:3001/api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— port differs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67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http://localhost:5173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http://127.0.0.1:5173/api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— host differs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64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https://app.example.edu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http://app.example.edu/api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— scheme differs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678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https://app.example.edu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https://api.example.edu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5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— host differs</a:t>
                      </a:r>
                      <a:endParaRPr lang="en-US" sz="1755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preflight: the browser asks first, then sends the real request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8873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035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preflight is the browser asking permission before a non-simple request; the real request is only sent if the answer allows it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597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policy: an exact allowlist, and the headers it permits</a:t>
            </a:r>
            <a:endParaRPr lang="en-US" sz="2856" dirty="0"/>
          </a:p>
        </p:txBody>
      </p:sp>
      <p:sp>
        <p:nvSpPr>
          <p:cNvPr id="7" name="Shape 5"/>
          <p:cNvSpPr/>
          <p:nvPr/>
        </p:nvSpPr>
        <p:spPr>
          <a:xfrm>
            <a:off x="685800" y="1951897"/>
            <a:ext cx="10820400" cy="3480054"/>
          </a:xfrm>
          <a:prstGeom prst="roundRect">
            <a:avLst>
              <a:gd name="adj" fmla="val 1577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51897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9709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backend/src/cors-options.mjs (comments trimmed)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01477"/>
            <a:ext cx="10439400" cy="290474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corsOptions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allowedOrigins = DEFAULT_ORIGINS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allowed 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(allowedOrigins);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origin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origin, done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(!origin)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allowed.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(origin));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 false = no CORS headers at all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},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methods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[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"GET"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"POST"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"PUT"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"PATCH"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"DELETE"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allowedHeaders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[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"Content-Type"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"X-Request-Id"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exposedHeaders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[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"Location"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"X-Request-Id"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readable by axios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maxAge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the browser may cache a preflight answer for 10 minutes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};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535583"/>
            <a:ext cx="10820400" cy="4334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exposedHeaders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why Block B's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createIncident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can read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632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872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60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Allowed and refused preflights, side by side</a:t>
            </a:r>
            <a:endParaRPr lang="en-US" sz="2604" dirty="0"/>
          </a:p>
        </p:txBody>
      </p:sp>
      <p:sp>
        <p:nvSpPr>
          <p:cNvPr id="7" name="Shape 5"/>
          <p:cNvSpPr/>
          <p:nvPr/>
        </p:nvSpPr>
        <p:spPr>
          <a:xfrm>
            <a:off x="685800" y="1472563"/>
            <a:ext cx="10820400" cy="3696462"/>
          </a:xfrm>
          <a:prstGeom prst="roundRect">
            <a:avLst>
              <a:gd name="adj" fmla="val 1484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72563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49161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capture — sample API on localhost:3001, 2026-10-01 (Date/Connection omitted)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22143"/>
            <a:ext cx="10439400" cy="31211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-i -X OPTIONS localhost:3001/api/incidents/abc \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'Origin: http://localhost:5173'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'Access-Control-Request-Method: PATCH'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HTTP/1.1 204 No Content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Access-Control-Allow-Origin: http://localhost:5173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Vary: Origin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Access-Control-Allow-Methods: GET,POST,PUT,PATCH,DELETE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Access-Control-Allow-Headers: Content-Type,X-Request-Id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Access-Control-Max-Age: 600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-i -X OPTIONS localhost:3001/api/incidents/abc \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'Origin: http://localhost:5174'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'Access-Control-Request-Method: PATCH'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HTTP/1.1 204 No Content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263513"/>
            <a:ext cx="10820400" cy="715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Refused is not an error status: it is a 204 </a:t>
            </a:r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no </a:t>
            </a:r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Access-Control-*</a:t>
            </a:r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headers</a:t>
            </a:r>
            <a:endParaRPr lang="en-US" sz="1488" dirty="0"/>
          </a:p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Vary: Origin</a:t>
            </a:r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tells caches the answer depends on who asked</a:t>
            </a:r>
            <a:endParaRPr lang="en-US" sz="1488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85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4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request: curl gets the data, the browser refuses to hand it over</a:t>
            </a:r>
            <a:endParaRPr lang="en-US" sz="2940" dirty="0"/>
          </a:p>
        </p:txBody>
      </p:sp>
      <p:sp>
        <p:nvSpPr>
          <p:cNvPr id="7" name="Shape 5"/>
          <p:cNvSpPr/>
          <p:nvPr/>
        </p:nvSpPr>
        <p:spPr>
          <a:xfrm>
            <a:off x="685800" y="1979722"/>
            <a:ext cx="10820400" cy="2626595"/>
          </a:xfrm>
          <a:prstGeom prst="roundRect">
            <a:avLst>
              <a:gd name="adj" fmla="val 208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7972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99877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capture — GET from a non-allowed origin, then Edge console on :5174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29302"/>
            <a:ext cx="10439400" cy="205128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-i localhost:3001/api/incidents -H </a:t>
            </a:r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'Origin: http://localhost:5174'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HTTP/1.1 200 OK            ← no Access-Control-Allow-Origin header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 application/json; charset=utf-8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{"items":[{"id":"…","title":"Synthetic printing delay",…}],"count":3}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 console on :5174 — Access to XMLHttpRequest at 'http://localhost:3001/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api/healthz' from origin 'http://localhost:5174' has been blocked by CORS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policy: Response to preflight request doesn't pass access control check: No</a:t>
            </a:r>
            <a:endParaRPr lang="en-US" sz="1207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7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'Access-Control-Allow-Origin' header is present on the requested resource.</a:t>
            </a:r>
            <a:endParaRPr lang="en-US" sz="1207" dirty="0"/>
          </a:p>
        </p:txBody>
      </p:sp>
      <p:sp>
        <p:nvSpPr>
          <p:cNvPr id="11" name="Shape 9"/>
          <p:cNvSpPr/>
          <p:nvPr/>
        </p:nvSpPr>
        <p:spPr>
          <a:xfrm>
            <a:off x="685800" y="4712997"/>
            <a:ext cx="10820400" cy="1168454"/>
          </a:xfrm>
          <a:prstGeom prst="roundRect">
            <a:avLst>
              <a:gd name="adj" fmla="val 3913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12997"/>
            <a:ext cx="76200" cy="1168454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27297"/>
            <a:ext cx="10363200" cy="226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092092"/>
            <a:ext cx="10363200" cy="636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 is enforced by the </a:t>
            </a:r>
            <a:pPr algn="l" indent="0" marL="0">
              <a:lnSpc>
                <a:spcPct val="102256"/>
              </a:lnSpc>
              <a:buNone/>
            </a:pPr>
            <a:r>
              <a:rPr lang="en-US" sz="157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pPr algn="l" indent="0" marL="0">
              <a:lnSpc>
                <a:spcPct val="102256"/>
              </a:lnSpc>
              <a:buNone/>
            </a:pP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It is not authentication: curl, scripts and other servers ignore it entirely.</a:t>
            </a:r>
            <a:endParaRPr lang="en-US" sz="1579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6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CORS mistakes that ship to production</a:t>
            </a:r>
            <a:endParaRPr lang="en-US" sz="3780" dirty="0"/>
          </a:p>
        </p:txBody>
      </p:sp>
      <p:sp>
        <p:nvSpPr>
          <p:cNvPr id="7" name="Text 5"/>
          <p:cNvSpPr/>
          <p:nvPr/>
        </p:nvSpPr>
        <p:spPr>
          <a:xfrm>
            <a:off x="685800" y="1683342"/>
            <a:ext cx="10820400" cy="4274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origin: "*"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cookies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browsers reject it; reflecting any origin instead is a real vulnerability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Fixing CORS in the frontend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headers only work when the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sends them; a browser extension "fix" hides the bug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Forgetting the deployed origin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CORS_ORIGINS=https://app.example.edu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set per environment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Treating CORS as security for the API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it is not; authenticate every request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Alternative in dev: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Vite proxy makes the calls same-origin, so no CORS at all</a:t>
            </a:r>
            <a:endParaRPr lang="en-US" sz="216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103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Demo: break CORS, read the error, fix it with configuration</a:t>
            </a:r>
            <a:endParaRPr lang="en-US" sz="3108" dirty="0"/>
          </a:p>
        </p:txBody>
      </p:sp>
      <p:sp>
        <p:nvSpPr>
          <p:cNvPr id="9" name="Shape 7"/>
          <p:cNvSpPr/>
          <p:nvPr/>
        </p:nvSpPr>
        <p:spPr>
          <a:xfrm>
            <a:off x="685800" y="2579440"/>
            <a:ext cx="5238750" cy="3135560"/>
          </a:xfrm>
          <a:prstGeom prst="roundRect">
            <a:avLst>
              <a:gd name="adj" fmla="val 1458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693740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3036640"/>
            <a:ext cx="4781550" cy="2329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1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1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localhost:5174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1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1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run dev:wrong-origin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1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632" dirty="0"/>
          </a:p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2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banner; console shows the CORS message</a:t>
            </a:r>
            <a:endParaRPr lang="en-US" sz="1632" dirty="0"/>
          </a:p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3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Restart API with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3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CORS_ORIGINS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3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including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3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:5174</a:t>
            </a:r>
            <a:endParaRPr lang="en-US" sz="1632" dirty="0"/>
          </a:p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4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Reload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4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:5174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Font typeface="+mj-lt"/>
              <a:buAutoNum type="arabicPeriod" startAt="4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it works, no code changed</a:t>
            </a:r>
            <a:endParaRPr lang="en-US" sz="1632" dirty="0"/>
          </a:p>
        </p:txBody>
      </p:sp>
      <p:sp>
        <p:nvSpPr>
          <p:cNvPr id="12" name="Shape 10"/>
          <p:cNvSpPr/>
          <p:nvPr/>
        </p:nvSpPr>
        <p:spPr>
          <a:xfrm>
            <a:off x="6267450" y="2579440"/>
            <a:ext cx="5238750" cy="1755914"/>
          </a:xfrm>
          <a:prstGeom prst="roundRect">
            <a:avLst>
              <a:gd name="adj" fmla="val 2604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693740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3036640"/>
            <a:ext cx="4781550" cy="1176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Preflight gains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Allow-Origin: http://localhost:5174</a:t>
            </a:r>
            <a:endParaRPr lang="en-US" sz="1920" dirty="0"/>
          </a:p>
        </p:txBody>
      </p:sp>
      <p:sp>
        <p:nvSpPr>
          <p:cNvPr id="15" name="Shape 13"/>
          <p:cNvSpPr/>
          <p:nvPr/>
        </p:nvSpPr>
        <p:spPr>
          <a:xfrm>
            <a:off x="6267450" y="4525854"/>
            <a:ext cx="5238750" cy="1189146"/>
          </a:xfrm>
          <a:prstGeom prst="roundRect">
            <a:avLst>
              <a:gd name="adj" fmla="val 3845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640154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983054"/>
            <a:ext cx="4781550" cy="4479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captures on slides 12–13.</a:t>
            </a:r>
            <a:endParaRPr lang="en-US" sz="2064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campuspulse-fullstack sample</a:t>
            </a:r>
            <a:endParaRPr lang="en-US" sz="127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API and CORS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silent write (3 min) → cold call (4 min) → debrief (3 min)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215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layer is wrong, and what is the smallest fix?</a:t>
            </a:r>
            <a:endParaRPr lang="en-US" sz="3696" dirty="0"/>
          </a:p>
        </p:txBody>
      </p:sp>
      <p:sp>
        <p:nvSpPr>
          <p:cNvPr id="10" name="Text 8"/>
          <p:cNvSpPr/>
          <p:nvPr/>
        </p:nvSpPr>
        <p:spPr>
          <a:xfrm>
            <a:off x="685800" y="3354098"/>
            <a:ext cx="10820400" cy="25456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deployed app at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https://app.example.edu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shows a "network error"; curl to the API returns 200.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 an incident works, but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createIncident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returns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 undefined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failed POST shows "network error" instead of the server's validation message.</a:t>
            </a:r>
            <a:endParaRPr lang="en-US" sz="2112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Individual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Individual lab: HTTPS to deployment</a:t>
            </a:r>
            <a:endParaRPr lang="en-US" sz="3696" dirty="0"/>
          </a:p>
        </p:txBody>
      </p:sp>
      <p:sp>
        <p:nvSpPr>
          <p:cNvPr id="7" name="Text 5"/>
          <p:cNvSpPr/>
          <p:nvPr/>
        </p:nvSpPr>
        <p:spPr>
          <a:xfrm>
            <a:off x="685800" y="1668286"/>
            <a:ext cx="10820400" cy="45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 before each command, then compare with the result.</a:t>
            </a:r>
            <a:endParaRPr lang="en-US" sz="2112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1859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390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</a:t>
                      </a: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Focus</a:t>
                      </a: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</a:t>
                      </a: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Negotiated HTTP version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51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Reconstruct a certificate chain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51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Diagnose three failure reports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domain's CT record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Deploy, fail a gate, roll back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4 guided lab: full commands, expected output, and offline fallbacks</a:t>
            </a:r>
            <a:endParaRPr lang="en-US" sz="127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1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budget alert is this week's gate, and it comes first</a:t>
            </a:r>
            <a:endParaRPr lang="en-US" sz="3360" dirty="0"/>
          </a:p>
        </p:txBody>
      </p:sp>
      <p:sp>
        <p:nvSpPr>
          <p:cNvPr id="7" name="Text 5"/>
          <p:cNvSpPr/>
          <p:nvPr/>
        </p:nvSpPr>
        <p:spPr>
          <a:xfrm>
            <a:off x="685800" y="2118848"/>
            <a:ext cx="1082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a cloud budget alert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 provision anything that bills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the threshold at a number that would genuinely alarm you — for most of you, low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 at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50%, 80% and 100%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to an address you actually read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the configured alert.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screenshot is a graded HW4 artifact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budget alert means no cloud-hosted work — this gate is not negotiable</a:t>
            </a:r>
            <a:endParaRPr lang="en-US" sz="1920" dirty="0"/>
          </a:p>
        </p:txBody>
      </p:sp>
      <p:sp>
        <p:nvSpPr>
          <p:cNvPr id="8" name="Shape 6"/>
          <p:cNvSpPr/>
          <p:nvPr/>
        </p:nvSpPr>
        <p:spPr>
          <a:xfrm>
            <a:off x="685800" y="4328648"/>
            <a:ext cx="10820400" cy="1278770"/>
          </a:xfrm>
          <a:prstGeom prst="roundRect">
            <a:avLst>
              <a:gd name="adj" fmla="val 357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28648"/>
            <a:ext cx="76200" cy="127877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42948"/>
            <a:ext cx="10363200" cy="25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4740128"/>
            <a:ext cx="10363200" cy="714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minutes, zero dollars, and it is the difference between finding out in a day and finding out on the invoice.</a:t>
            </a:r>
            <a:endParaRPr lang="en-US" sz="180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HW4 — Connect It: frontend, API, HTTPS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10820400" cy="464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points · individual · due before Week 5 · Gate 2.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685800" y="303878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Connect it</a:t>
            </a:r>
            <a:endParaRPr lang="en-US" sz="2160" dirty="0"/>
          </a:p>
        </p:txBody>
      </p:sp>
      <p:sp>
        <p:nvSpPr>
          <p:cNvPr id="9" name="Text 7"/>
          <p:cNvSpPr/>
          <p:nvPr/>
        </p:nvSpPr>
        <p:spPr>
          <a:xfrm>
            <a:off x="685800" y="3568309"/>
            <a:ext cx="5219700" cy="1949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status codes, one error shape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CORS allowlist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axios client, one </a:t>
            </a:r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endParaRPr lang="en-US" sz="2304" dirty="0"/>
          </a:p>
        </p:txBody>
      </p:sp>
      <p:sp>
        <p:nvSpPr>
          <p:cNvPr id="10" name="Text 8"/>
          <p:cNvSpPr/>
          <p:nvPr/>
        </p:nvSpPr>
        <p:spPr>
          <a:xfrm>
            <a:off x="6286500" y="303878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Ship and trust it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6286500" y="3568309"/>
            <a:ext cx="5219700" cy="15398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over HTTPS, read-only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Digest deploy + rollback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chain + a fired alert</a:t>
            </a:r>
            <a:endParaRPr lang="en-US" sz="2304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HW4 handout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evidence standard</a:t>
            </a:r>
            <a:endParaRPr lang="en-US" sz="127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Closing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58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you leave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Exit ticket — one line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325453"/>
            <a:ext cx="52197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one command that would settle: 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"our API is slow on mobile because HTTP/3 is disabled."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Week 5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325453"/>
            <a:ext cx="5219700" cy="323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HW4 is due before Week 5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start with the budget alert tonight, not the certificate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the 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5 prep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before class: delivery, caching, and what the user actually experiences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at Speed, Trust on the Wire, and First Deploy — Week 4 Full session</dc:title>
  <dc:subject>Teaching, individual practice, and the end-of-class brief</dc:subject>
  <dc:creator>Course staff</dc:creator>
  <cp:lastModifiedBy>Course staff</cp:lastModifiedBy>
  <cp:revision>1</cp:revision>
  <dcterms:created xsi:type="dcterms:W3CDTF">2026-10-01T21:49:06Z</dcterms:created>
  <dcterms:modified xsi:type="dcterms:W3CDTF">2026-10-01T21:49:06Z</dcterms:modified>
</cp:coreProperties>
</file>