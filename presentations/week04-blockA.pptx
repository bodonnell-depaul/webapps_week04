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MDN — [Connection management in HTTP/1.x](https://developer.mozilla.org/en-US/docs/Web/HTTP/Guides/Connection_management_in_HTTP_1.x)
IETF — [RFC 9112, HTTP/1.1](https://www.rfc-editor.org/rfc/rfc9112.html)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9113, HTTP/2](https://www.rfc-editor.org/rfc/rfc9113.html) · [RFC 9110, HTTP Semantics](https://www.rfc-editor.org/rfc/rfc9110.html)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9000, QUIC](https://www.rfc-editor.org/rfc/rfc9000.html) · [RFC 9114, HTTP/3](https://www.rfc-editor.org/rfc/rfc9114.html)
MDN — [`Alt-Svc`](https://developer.mozilla.org/en-US/docs/Web/HTTP/Reference/Headers/Alt-Svc)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8446, TLS 1.3](https://www.rfc-editor.org/rfc/rfc8446.html)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8446 §2, protocol overview](https://www.rfc-editor.org/rfc/rfc8446.html)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9525, service identity in TLS](https://www.rfc-editor.org/rfc/rfc9525.html)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[tls-inspect.ps1](../samples/tls-inspect.ps1) · [captured output](../samples/tls-inspect-captures.txt)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PS&gt; Get-ChildItem Cert:\LocalMachine\Root |
&gt;&gt;   Where-Object Subject -like '*ISRG Root X1*' |
&gt;&gt;   Format-List Subject, Thumbprint, NotAfter
Subject    : CN=ISRG Root X1, O=Internet Security Research Group, C=US
Thumbprint : CABD2A79A1076A31F21D253635CB039D4329A5E8
NotAfter   : 6/4/2035 6:04:38 AM
PS&gt; certutil -dump .\depaul.cer | Select-String 'Subject|NotAfter|DNS'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# Leaf fields (subject, issuer, dates, SAN)
openssl s_client -connect www.depaul.edu:443 -servername www.depaul.edu \
  &lt;/dev/null 2&gt;/dev/null | openssl x509 -noout -subject -issuer -dates \
  -ext subjectAltName
# Full chain the server sends, and the verify result
openssl s_client -connect www.depaul.edu:443 -servername www.depaul.edu \
  -showcerts &lt;/dev/null
# ALPN: which HTTP version does the server pick?
openssl s_client -connect www.depaul.edu:443 -servername www.depaul.edu \
  -alpn h2,http/1.1 &lt;/dev/null 2&gt;/dev/null | grep -i alpn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Let's Encrypt — [How it works](https://letsencrypt.org/how-it-works/)
MDN — [`Strict-Transport-Security`](https://developer.mozilla.org/en-US/docs/Web/HTTP/Reference/Headers/Strict-Transport-Security)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mozilla.org/en-US/docs/Web/HTTP/Guides/Connection_management_in_HTTP_1.x" TargetMode="External"/><Relationship Id="rId2" Type="http://schemas.openxmlformats.org/officeDocument/2006/relationships/hyperlink" Target="https://www.rfc-editor.org/rfc/rfc9112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113.html" TargetMode="External"/><Relationship Id="rId2" Type="http://schemas.openxmlformats.org/officeDocument/2006/relationships/hyperlink" Target="https://www.rfc-editor.org/rfc/rfc9110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000.html" TargetMode="External"/><Relationship Id="rId2" Type="http://schemas.openxmlformats.org/officeDocument/2006/relationships/hyperlink" Target="https://www.rfc-editor.org/rfc/rfc9114.html" TargetMode="External"/><Relationship Id="rId3" Type="http://schemas.openxmlformats.org/officeDocument/2006/relationships/hyperlink" Target="https://developer.mozilla.org/en-US/docs/Web/HTTP/Reference/Headers/Alt-Svc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8446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fc-editor.org/rfc/rfc8446.html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525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../samples/tls-inspect.ps1" TargetMode="External"/><Relationship Id="rId2" Type="http://schemas.openxmlformats.org/officeDocument/2006/relationships/hyperlink" Target="../samples/tls-inspect-captures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letsencrypt.org/how-it-works/" TargetMode="External"/><Relationship Id="rId2" Type="http://schemas.openxmlformats.org/officeDocument/2006/relationships/hyperlink" Target="https://developer.mozilla.org/en-US/docs/Web/HTTP/Reference/Headers/Strict-Transport-Securit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8244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5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 and TLS: the big picture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685800" y="3977107"/>
            <a:ext cx="9525000" cy="8996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3985"/>
              </a:lnSpc>
              <a:buNone/>
            </a:pPr>
            <a:r>
              <a:rPr lang="en-US" sz="18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HTTP went from 1.1 to 2 to 3, and how a browser decides to trust a server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05740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0574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4 · Block 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57500" y="4991100"/>
            <a:ext cx="14287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7500" y="4991100"/>
            <a:ext cx="1428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0055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055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2026-10-01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1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6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ship over HTTP every day. You have never chosen a version</a:t>
            </a:r>
            <a:endParaRPr lang="en-US" sz="3360" dirty="0"/>
          </a:p>
        </p:txBody>
      </p:sp>
      <p:sp>
        <p:nvSpPr>
          <p:cNvPr id="7" name="Text 5"/>
          <p:cNvSpPr/>
          <p:nvPr/>
        </p:nvSpPr>
        <p:spPr>
          <a:xfrm>
            <a:off x="685800" y="2118848"/>
            <a:ext cx="10820400" cy="2383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app speaks HTTP, but you did not pick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or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something else did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version is negotiated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wire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during the TLS handshake, by a step called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ALPN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not in your source code, your framework config, or your Dockerfile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methods, same status codes, same headers in every version — only the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changed</a:t>
            </a:r>
            <a:endParaRPr lang="en-US" sz="1920" dirty="0"/>
          </a:p>
        </p:txBody>
      </p:sp>
      <p:sp>
        <p:nvSpPr>
          <p:cNvPr id="8" name="Shape 6"/>
          <p:cNvSpPr/>
          <p:nvPr/>
        </p:nvSpPr>
        <p:spPr>
          <a:xfrm>
            <a:off x="685800" y="4609064"/>
            <a:ext cx="10820400" cy="1278770"/>
          </a:xfrm>
          <a:prstGeom prst="roundRect">
            <a:avLst>
              <a:gd name="adj" fmla="val 357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609064"/>
            <a:ext cx="76200" cy="127877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23364"/>
            <a:ext cx="10363200" cy="25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5020544"/>
            <a:ext cx="10363200" cy="7148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0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HTTP version is a property of the connection, not of the code. To learn it, ask the connection — DevTools, </a:t>
            </a:r>
            <a:pPr algn="l" indent="0" marL="0">
              <a:lnSpc>
                <a:spcPct val="102256"/>
              </a:lnSpc>
              <a:buNone/>
            </a:pPr>
            <a:r>
              <a:rPr lang="en-US" sz="180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-v</a:t>
            </a:r>
            <a:pPr algn="l" indent="0" marL="0">
              <a:lnSpc>
                <a:spcPct val="102256"/>
              </a:lnSpc>
              <a:buNone/>
            </a:pPr>
            <a:r>
              <a:rPr lang="en-US" sz="180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or the server's logs.</a:t>
            </a:r>
            <a:endParaRPr lang="en-US" sz="180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173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3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HTTP/1.1: one answer at a time per connection</a:t>
            </a:r>
            <a:endParaRPr lang="en-US" sz="4032" dirty="0"/>
          </a:p>
        </p:txBody>
      </p:sp>
      <p:sp>
        <p:nvSpPr>
          <p:cNvPr id="7" name="Text 5"/>
          <p:cNvSpPr/>
          <p:nvPr/>
        </p:nvSpPr>
        <p:spPr>
          <a:xfrm>
            <a:off x="685800" y="2341449"/>
            <a:ext cx="10820400" cy="33247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1.1 connection carries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request/response at a time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in order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Keep-alive reuses the socket, so request two skips the TCP and TLS setup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 a slow response blocks everything queued behind it —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head-of-line blocking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Browsers worked around it by opening about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connections per site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connections means six handshakes and six of everything else</a:t>
            </a:r>
            <a:endParaRPr lang="en-US" sz="2304" dirty="0"/>
          </a:p>
        </p:txBody>
      </p:sp>
      <p:sp>
        <p:nvSpPr>
          <p:cNvPr id="8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Connection management in HTTP/1.x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9112, HTTP/1.1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lane, or many lanes on one road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77670"/>
            <a:ext cx="10820400" cy="35258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3035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HTTP/1.1 serialises responses on one connection; HTTP/2 interleaves them as frames on independent streams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619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9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HTTP/2: same meaning, new envelope, one connection</a:t>
            </a:r>
            <a:endParaRPr lang="en-US" sz="3192" dirty="0"/>
          </a:p>
        </p:txBody>
      </p:sp>
      <p:sp>
        <p:nvSpPr>
          <p:cNvPr id="7" name="Text 5"/>
          <p:cNvSpPr/>
          <p:nvPr/>
        </p:nvSpPr>
        <p:spPr>
          <a:xfrm>
            <a:off x="685800" y="2063197"/>
            <a:ext cx="10820400" cy="1620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Requests become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frames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each tagged with a stream ID, all on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TCP connection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Headers are compressed (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HPACK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 so a big repeated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Cookie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header costs bytes once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handlers do not change: HTTP/2 is a delivery upgrade, not an API change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catch: TCP delivers bytes strictly in order, so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lost packet stalls every stream</a:t>
            </a:r>
            <a:endParaRPr lang="en-US" sz="1824" dirty="0"/>
          </a:p>
        </p:txBody>
      </p:sp>
      <p:sp>
        <p:nvSpPr>
          <p:cNvPr id="8" name="Shape 6"/>
          <p:cNvSpPr/>
          <p:nvPr/>
        </p:nvSpPr>
        <p:spPr>
          <a:xfrm>
            <a:off x="685800" y="3784860"/>
            <a:ext cx="10820400" cy="1234644"/>
          </a:xfrm>
          <a:prstGeom prst="roundRect">
            <a:avLst>
              <a:gd name="adj" fmla="val 3703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784860"/>
            <a:ext cx="76200" cy="1234644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99160"/>
            <a:ext cx="10363200" cy="246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4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254" dirty="0"/>
          </a:p>
        </p:txBody>
      </p:sp>
      <p:sp>
        <p:nvSpPr>
          <p:cNvPr id="11" name="Text 9"/>
          <p:cNvSpPr/>
          <p:nvPr/>
        </p:nvSpPr>
        <p:spPr>
          <a:xfrm>
            <a:off x="914400" y="4183386"/>
            <a:ext cx="10363200" cy="6837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1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HTTP/2 fixed head-of-line blocking at the HTTP layer and inherited it at the TCP layer. On a lossy network one connection can lose to six HTTP/1.1 connections.</a:t>
            </a:r>
            <a:endParaRPr lang="en-US" sz="1715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9113, HTTP/2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9110, HTTP Semantics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173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3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HTTP/3: the same idea on a transport that knows about streams</a:t>
            </a:r>
            <a:endParaRPr lang="en-US" sz="4032" dirty="0"/>
          </a:p>
        </p:txBody>
      </p:sp>
      <p:sp>
        <p:nvSpPr>
          <p:cNvPr id="7" name="Text 5"/>
          <p:cNvSpPr/>
          <p:nvPr/>
        </p:nvSpPr>
        <p:spPr>
          <a:xfrm>
            <a:off x="685800" y="2341449"/>
            <a:ext cx="10820400" cy="33247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HTTP/3 runs over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 transport built on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UDP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 knows about streams, so a lost packet stalls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its own stream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TLS 1.3 is built into QUIC, so setup takes fewer round trips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migration: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Wi-Fi to cellular keeps the same connection alive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Discovery: the server advertises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alt-svc: h3=":443"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the next connection tries QUIC, and falls back to TCP if UDP is blocked</a:t>
            </a:r>
            <a:endParaRPr lang="en-US" sz="2304" dirty="0"/>
          </a:p>
        </p:txBody>
      </p:sp>
      <p:sp>
        <p:nvSpPr>
          <p:cNvPr id="8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9000, QUIC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9114, HTTP/3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MDN — </a:t>
            </a:r>
            <a:pPr indent="0" marL="0">
              <a:buNone/>
            </a:pP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Alt-Svc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78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three versions at a glance</a:t>
            </a:r>
            <a:endParaRPr lang="en-US" sz="3864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8397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451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5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HTTP/1.1</a:t>
                      </a:r>
                      <a:endParaRPr lang="en-US" sz="165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HTTP/2</a:t>
                      </a:r>
                      <a:endParaRPr lang="en-US" sz="165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HTTP/3</a:t>
                      </a:r>
                      <a:endParaRPr lang="en-US" sz="165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TCP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TCP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QUIC over UDP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77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Requests per connection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at a time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Many, interleaved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Many, independent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77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Head-of-line blocking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 and TCP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TCP only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Removed between streams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 on the wire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 frames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 frames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Encryption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Optional (TLS)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TLS in practice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TLS 1.3 built in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app code changes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3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ALPN: the version is chosen inside the TLS handshake</a:t>
            </a:r>
            <a:endParaRPr lang="en-US" sz="3108" dirty="0"/>
          </a:p>
        </p:txBody>
      </p:sp>
      <p:sp>
        <p:nvSpPr>
          <p:cNvPr id="7" name="Shape 5"/>
          <p:cNvSpPr/>
          <p:nvPr/>
        </p:nvSpPr>
        <p:spPr>
          <a:xfrm>
            <a:off x="685800" y="2035372"/>
            <a:ext cx="10820400" cy="2588453"/>
          </a:xfrm>
          <a:prstGeom prst="roundRect">
            <a:avLst>
              <a:gd name="adj" fmla="val 212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3537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05442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capture — curl 8.5.0 against www.depaul.edu, 2026-08-15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484952"/>
            <a:ext cx="10439400" cy="2013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-sS -o /dev/null -v --http2 https://www.depaul.edu/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 ALPN: curl offers h2,http/1.1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 SSL connection using TLSv1.3 / TLS_AES_128_GCM_SHA256 / X25519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 ALPN: server accepted h2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 using HTTP/2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 </a:t>
            </a:r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 / HTTP/2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 HTTP/2 200</a:t>
            </a:r>
            <a:endParaRPr lang="en-US" sz="1332" dirty="0"/>
          </a:p>
        </p:txBody>
      </p:sp>
      <p:sp>
        <p:nvSpPr>
          <p:cNvPr id="11" name="Shape 9"/>
          <p:cNvSpPr/>
          <p:nvPr/>
        </p:nvSpPr>
        <p:spPr>
          <a:xfrm>
            <a:off x="685800" y="4736601"/>
            <a:ext cx="10820400" cy="1212580"/>
          </a:xfrm>
          <a:prstGeom prst="roundRect">
            <a:avLst>
              <a:gd name="adj" fmla="val 377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736601"/>
            <a:ext cx="76200" cy="121258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50901"/>
            <a:ext cx="10363200" cy="239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1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21" dirty="0"/>
          </a:p>
        </p:txBody>
      </p:sp>
      <p:sp>
        <p:nvSpPr>
          <p:cNvPr id="14" name="Text 12"/>
          <p:cNvSpPr/>
          <p:nvPr/>
        </p:nvSpPr>
        <p:spPr>
          <a:xfrm>
            <a:off x="914400" y="5128650"/>
            <a:ext cx="10363200" cy="668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client offers a list, the server picks one, and the choice is made </a:t>
            </a:r>
            <a:pPr algn="l" indent="0" marL="0">
              <a:lnSpc>
                <a:spcPct val="102256"/>
              </a:lnSpc>
              <a:buNone/>
            </a:pPr>
            <a:r>
              <a:rPr lang="en-US" sz="166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a single HTTP byte moves</a:t>
            </a:r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That is why HTTP versions and TLS are one topic.</a:t>
            </a:r>
            <a:endParaRPr lang="en-US" sz="166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second half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TLS: privacy, integrity, and a name you can trust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85800" y="4397350"/>
            <a:ext cx="10820400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handshake, the certificate, the chain — and how to read all three on Windows.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64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TLS actually gives you, and the one thing it does not</a:t>
            </a:r>
            <a:endParaRPr lang="en-US" sz="3528" dirty="0"/>
          </a:p>
        </p:txBody>
      </p:sp>
      <p:sp>
        <p:nvSpPr>
          <p:cNvPr id="7" name="Text 5"/>
          <p:cNvSpPr/>
          <p:nvPr/>
        </p:nvSpPr>
        <p:spPr>
          <a:xfrm>
            <a:off x="685800" y="2174498"/>
            <a:ext cx="10820400" cy="17812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Confidentiality</a:t>
            </a:r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an observer on the Wi-Fi sees ciphertext, not your request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Integrity</a:t>
            </a:r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tampering is detected, not merely discouraged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authentication</a:t>
            </a:r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you are talking to the owner of that </a:t>
            </a:r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does </a:t>
            </a:r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say the site is honest, safe, or well run</a:t>
            </a:r>
            <a:endParaRPr lang="en-US" sz="2016" dirty="0"/>
          </a:p>
        </p:txBody>
      </p:sp>
      <p:sp>
        <p:nvSpPr>
          <p:cNvPr id="8" name="Shape 6"/>
          <p:cNvSpPr/>
          <p:nvPr/>
        </p:nvSpPr>
        <p:spPr>
          <a:xfrm>
            <a:off x="685800" y="4067763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067763"/>
            <a:ext cx="76200" cy="1322897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82063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386" dirty="0"/>
          </a:p>
        </p:txBody>
      </p:sp>
      <p:sp>
        <p:nvSpPr>
          <p:cNvPr id="11" name="Text 9"/>
          <p:cNvSpPr/>
          <p:nvPr/>
        </p:nvSpPr>
        <p:spPr>
          <a:xfrm>
            <a:off x="914400" y="4492197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padlock means the connection is private. A phishing site with a free certificate has a padlock too. TLS authenticates the </a:t>
            </a:r>
            <a:pPr algn="l" indent="0" marL="0">
              <a:lnSpc>
                <a:spcPct val="102256"/>
              </a:lnSpc>
              <a:buNone/>
            </a:pPr>
            <a:r>
              <a:rPr lang="en-US" sz="189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</a:t>
            </a:r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never the intent behind it.</a:t>
            </a:r>
            <a:endParaRPr lang="en-US" sz="1895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8446, TLS 1.3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round trip, and where the certificate shows up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26206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0368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TLS 1.3 completes in one round trip; the certificate arrives in the server's first flight and is encrypted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8446 §2, protocol overview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3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certificate is a signed, public statement about a name</a:t>
            </a:r>
            <a:endParaRPr lang="en-US" sz="3108" dirty="0"/>
          </a:p>
        </p:txBody>
      </p:sp>
      <p:sp>
        <p:nvSpPr>
          <p:cNvPr id="7" name="Text 5"/>
          <p:cNvSpPr/>
          <p:nvPr/>
        </p:nvSpPr>
        <p:spPr>
          <a:xfrm>
            <a:off x="685800" y="2035372"/>
            <a:ext cx="10820400" cy="22680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make a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key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It never leaves your server; nobody else ever sees it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authority (CA)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checks you control the domain, then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signs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your public key + names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certificate is public by design — every visitor receives it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Browsers match the hostname against the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Alternative Name (SAN)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list, not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wildcard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*.example.edu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covers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label: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api.example.edu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✓,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a.b.example.edu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✗</a:t>
            </a:r>
            <a:endParaRPr lang="en-US" sz="1776" dirty="0"/>
          </a:p>
        </p:txBody>
      </p:sp>
      <p:sp>
        <p:nvSpPr>
          <p:cNvPr id="8" name="Shape 6"/>
          <p:cNvSpPr/>
          <p:nvPr/>
        </p:nvSpPr>
        <p:spPr>
          <a:xfrm>
            <a:off x="685800" y="4402068"/>
            <a:ext cx="10820400" cy="1212580"/>
          </a:xfrm>
          <a:prstGeom prst="roundRect">
            <a:avLst>
              <a:gd name="adj" fmla="val 377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402068"/>
            <a:ext cx="76200" cy="121258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516368"/>
            <a:ext cx="10363200" cy="239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1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21" dirty="0"/>
          </a:p>
        </p:txBody>
      </p:sp>
      <p:sp>
        <p:nvSpPr>
          <p:cNvPr id="11" name="Text 9"/>
          <p:cNvSpPr/>
          <p:nvPr/>
        </p:nvSpPr>
        <p:spPr>
          <a:xfrm>
            <a:off x="914400" y="4794117"/>
            <a:ext cx="10363200" cy="668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only secret is the private key. A certificate in a screenshot is harmless; a private key in a screenshot is a compromise.</a:t>
            </a:r>
            <a:endParaRPr lang="en-US" sz="1669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9525, service identity in TLS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links, and only two of them travel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28873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3035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server sends the leaf and the intermediates; the root is already on the client and is never sent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103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Demo: inspect a certificate on Windows, no OpenSSL</a:t>
            </a:r>
            <a:endParaRPr lang="en-US" sz="3108" dirty="0"/>
          </a:p>
        </p:txBody>
      </p:sp>
      <p:sp>
        <p:nvSpPr>
          <p:cNvPr id="9" name="Shape 7"/>
          <p:cNvSpPr/>
          <p:nvPr/>
        </p:nvSpPr>
        <p:spPr>
          <a:xfrm>
            <a:off x="685800" y="2579440"/>
            <a:ext cx="5238750" cy="3135560"/>
          </a:xfrm>
          <a:prstGeom prst="roundRect">
            <a:avLst>
              <a:gd name="adj" fmla="val 1458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693740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3036640"/>
            <a:ext cx="4781550" cy="25353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1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in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1"/>
            </a:pP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weeks/week04/samples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2"/>
            </a:pP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.\tls-inspect.ps1 www.depaul.edu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3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3"/>
            </a:pP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.\tls-inspect.ps1 expired.badssl.com</a:t>
            </a:r>
            <a:endParaRPr lang="en-US" sz="1824" dirty="0"/>
          </a:p>
        </p:txBody>
      </p:sp>
      <p:sp>
        <p:nvSpPr>
          <p:cNvPr id="12" name="Shape 10"/>
          <p:cNvSpPr/>
          <p:nvPr/>
        </p:nvSpPr>
        <p:spPr>
          <a:xfrm>
            <a:off x="6267450" y="2579440"/>
            <a:ext cx="5238750" cy="1755914"/>
          </a:xfrm>
          <a:prstGeom prst="roundRect">
            <a:avLst>
              <a:gd name="adj" fmla="val 2604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693740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3036640"/>
            <a:ext cx="4781550" cy="9467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DePaul </a:t>
            </a:r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expired </a:t>
            </a:r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NotTimeValid</a:t>
            </a:r>
            <a:endParaRPr lang="en-US" sz="2208" dirty="0"/>
          </a:p>
        </p:txBody>
      </p:sp>
      <p:sp>
        <p:nvSpPr>
          <p:cNvPr id="15" name="Shape 13"/>
          <p:cNvSpPr/>
          <p:nvPr/>
        </p:nvSpPr>
        <p:spPr>
          <a:xfrm>
            <a:off x="6267450" y="4525854"/>
            <a:ext cx="5238750" cy="1189146"/>
          </a:xfrm>
          <a:prstGeom prst="roundRect">
            <a:avLst>
              <a:gd name="adj" fmla="val 3845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640154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4983054"/>
            <a:ext cx="4781550" cy="6054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the printouts on the next slides (</a:t>
            </a:r>
            <a:pPr algn="l" indent="0" marL="0">
              <a:lnSpc>
                <a:spcPct val="102256"/>
              </a:lnSpc>
              <a:buNone/>
            </a:pPr>
            <a:r>
              <a:rPr lang="en-US" sz="148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tls-inspect-captures.txt</a:t>
            </a:r>
            <a:pPr algn="l" indent="0" marL="0">
              <a:lnSpc>
                <a:spcPct val="102256"/>
              </a:lnSpc>
              <a:buNone/>
            </a:pP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488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tls-inspect.ps1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output</a:t>
            </a:r>
            <a:endParaRPr lang="en-US" sz="12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3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 printout: the connection and the leaf certificate</a:t>
            </a:r>
            <a:endParaRPr lang="en-US" sz="3108" dirty="0"/>
          </a:p>
        </p:txBody>
      </p:sp>
      <p:sp>
        <p:nvSpPr>
          <p:cNvPr id="7" name="Shape 5"/>
          <p:cNvSpPr/>
          <p:nvPr/>
        </p:nvSpPr>
        <p:spPr>
          <a:xfrm>
            <a:off x="685800" y="2035372"/>
            <a:ext cx="10820400" cy="3309092"/>
          </a:xfrm>
          <a:prstGeom prst="roundRect">
            <a:avLst>
              <a:gd name="adj" fmla="val 165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3537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05442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capture — tls-inspect.ps1, PowerShell 7.6 (.NET), 2026-10-01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484952"/>
            <a:ext cx="10439400" cy="27337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 </a:t>
            </a:r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.\tls-inspect.ps1 www.depaul.edu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   : Tls12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     : TLS_ECDHE_RSA_WITH_AES_128_GCM_SHA256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 Leaf certificate ==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    : CN=www.depaul.edu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Issuer     : CN=YR1, O=Let's Encrypt, C=US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NotBefore  : 2026-09-22 17:53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NotAfter   : 2026-12-21 16:52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DaysLeft   : 81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        : DNS:www.depaul.edu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Thumbprint : ECD4BF7AE268F126C5F5E667E44396890BFC2610</a:t>
            </a:r>
            <a:endParaRPr lang="en-US" sz="1332" dirty="0"/>
          </a:p>
        </p:txBody>
      </p:sp>
      <p:sp>
        <p:nvSpPr>
          <p:cNvPr id="11" name="Text 9"/>
          <p:cNvSpPr/>
          <p:nvPr/>
        </p:nvSpPr>
        <p:spPr>
          <a:xfrm>
            <a:off x="685800" y="5457240"/>
            <a:ext cx="10820400" cy="4636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NotAfter − NotBefore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 days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renewal has to be automated</a:t>
            </a:r>
            <a:endParaRPr lang="en-US" sz="1776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959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5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 printout: the chain this device built, and the verdict</a:t>
            </a:r>
            <a:endParaRPr lang="en-US" sz="2856" dirty="0"/>
          </a:p>
        </p:txBody>
      </p:sp>
      <p:sp>
        <p:nvSpPr>
          <p:cNvPr id="7" name="Shape 5"/>
          <p:cNvSpPr/>
          <p:nvPr/>
        </p:nvSpPr>
        <p:spPr>
          <a:xfrm>
            <a:off x="685800" y="1951897"/>
            <a:ext cx="10820400" cy="3094848"/>
          </a:xfrm>
          <a:prstGeom prst="roundRect">
            <a:avLst>
              <a:gd name="adj" fmla="val 177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51897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9709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capture — same run, continued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401477"/>
            <a:ext cx="10439400" cy="25195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 Chain built by this device (0 = leaf) ==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 Subject                                                   NotAfter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 -------                                                   --------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0 CN=www.depaul.edu                                         2026-12-21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1 CN=YR1, O=Let's Encrypt, C=US                             2028-09-02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2 CN=Root YR, O=ISRG, C=US                                  2032-09-02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3 CN=ISRG Root X1, O=Internet Security Research Group, C=US 2035-06-04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 Verdict ==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PolicyErrors : None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ChainStatus  : OK</a:t>
            </a:r>
            <a:endParaRPr lang="en-US" sz="1224" dirty="0"/>
          </a:p>
        </p:txBody>
      </p:sp>
      <p:sp>
        <p:nvSpPr>
          <p:cNvPr id="11" name="Text 9"/>
          <p:cNvSpPr/>
          <p:nvPr/>
        </p:nvSpPr>
        <p:spPr>
          <a:xfrm>
            <a:off x="685800" y="5150376"/>
            <a:ext cx="10820400" cy="775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it came from this device's trust store, not the server</a:t>
            </a:r>
            <a:endParaRPr lang="en-US" sz="1632" dirty="0"/>
          </a:p>
          <a:p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PolicyErrors : None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same decision Edge makes before it draws the padlock</a:t>
            </a:r>
            <a:endParaRPr lang="en-US" sz="163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511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2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Windows: where "trusted" actually lives</a:t>
            </a:r>
            <a:endParaRPr lang="en-US" sz="3024" dirty="0"/>
          </a:p>
        </p:txBody>
      </p:sp>
      <p:sp>
        <p:nvSpPr>
          <p:cNvPr id="7" name="Shape 5"/>
          <p:cNvSpPr/>
          <p:nvPr/>
        </p:nvSpPr>
        <p:spPr>
          <a:xfrm>
            <a:off x="685800" y="1547841"/>
            <a:ext cx="10820400" cy="2770236"/>
          </a:xfrm>
          <a:prstGeom prst="roundRect">
            <a:avLst>
              <a:gd name="adj" fmla="val 198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47841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6689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— Windows 11 output shape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97421"/>
            <a:ext cx="10439400" cy="219492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Get-ChildItem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Cert:\LocalMachine\Root |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  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Where-Object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Subject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-like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'*ISRG Root X1*'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  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Format-List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Subject, Thumbprint, NotAfter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    : CN=ISRG Root X1, O=Internet Security Research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C=US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Thumbprint : CABD2A79A1076A31F21D253635CB039D4329A5E8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NotAfter   :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2035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AM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 certutil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-dump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.\depaul.cer |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Select-String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'Subject|NotAfter|DNS'</a:t>
            </a:r>
            <a:endParaRPr lang="en-US" sz="1296" dirty="0"/>
          </a:p>
        </p:txBody>
      </p:sp>
      <p:sp>
        <p:nvSpPr>
          <p:cNvPr id="11" name="Text 9"/>
          <p:cNvSpPr/>
          <p:nvPr/>
        </p:nvSpPr>
        <p:spPr>
          <a:xfrm>
            <a:off x="685800" y="4427805"/>
            <a:ext cx="10820400" cy="1484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 equivalent: run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certlm.msc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Trusted Root Certification Authorities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downloads roots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demand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 the list grows as you visit sites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.\tls-inspect.ps1 www.depaul.edu -SaveCertificate depaul.cer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creates the file for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certutil</a:t>
            </a:r>
            <a:endParaRPr lang="en-US" sz="1728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Windows, no command line: Edge's certificate viewer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92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8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clicks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685800" y="2909171"/>
            <a:ext cx="5219700" cy="30553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https://www.depaul.edu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the icon left of the address bar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3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is secure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4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the certificate icon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5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Details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5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tab: issuer, validity, SAN, and the chain</a:t>
            </a:r>
            <a:endParaRPr lang="en-US" sz="2112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92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8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to point at</a:t>
            </a:r>
            <a:endParaRPr lang="en-US" sz="1980" dirty="0"/>
          </a:p>
        </p:txBody>
      </p:sp>
      <p:sp>
        <p:nvSpPr>
          <p:cNvPr id="10" name="Text 8"/>
          <p:cNvSpPr/>
          <p:nvPr/>
        </p:nvSpPr>
        <p:spPr>
          <a:xfrm>
            <a:off x="6286500" y="2909171"/>
            <a:ext cx="5219700" cy="26127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Issued to / by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Subject and Issuer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from / to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90-day window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Subject Alternative Name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names covered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Hierarchy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root, intermediate, leaf</a:t>
            </a:r>
            <a:endParaRPr lang="en-US" sz="211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failures, and how each client reports them</a:t>
            </a:r>
            <a:endParaRPr lang="en-US" sz="4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97100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779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*.badssl.com site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Edge shows NET::ERR_CERT_…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PowerShell 7 says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5008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expired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DATE_INVALID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NotTimeValid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5008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wrong.host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COMMON_NAME_INVALID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NameMismatch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5008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self-signed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AUTHORITY_INVALID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UntrustedRoot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5008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incomplete-chain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often loads (the trap)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often passes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985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4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Reference for macOS and Linux: the same checks with OpenSSL</a:t>
            </a:r>
            <a:endParaRPr lang="en-US" sz="2940" dirty="0"/>
          </a:p>
        </p:txBody>
      </p:sp>
      <p:sp>
        <p:nvSpPr>
          <p:cNvPr id="7" name="Shape 5"/>
          <p:cNvSpPr/>
          <p:nvPr/>
        </p:nvSpPr>
        <p:spPr>
          <a:xfrm>
            <a:off x="685800" y="1979722"/>
            <a:ext cx="10820400" cy="3393491"/>
          </a:xfrm>
          <a:prstGeom prst="roundRect">
            <a:avLst>
              <a:gd name="adj" fmla="val 1617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7972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99877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/ Linux reference — not run in class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429302"/>
            <a:ext cx="10439400" cy="28181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Leaf fields (subject, issuer, dates, SAN)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 s_client -connect www.depaul.edu:443 -servername www.depaul.edu \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&lt;/dev/null 2&gt;/dev/null | openssl x509 -noout -subject -issuer -dates \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-ext subjectAltName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Full chain the server sends, and the verify result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 s_client -connect www.depaul.edu:443 -servername www.depaul.edu \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-showcerts &lt;/dev/null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ALPN: which HTTP version does the server pick?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 s_client -connect www.depaul.edu:443 -servername www.depaul.edu \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-alpn h2,http/1.1 &lt;/dev/null 2&gt;/dev/null | grep -i alpn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685800" y="5479893"/>
            <a:ext cx="10820400" cy="443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pass 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-servername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without SNI, a shared host may return the 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certificate</a:t>
            </a:r>
            <a:endParaRPr lang="en-US" sz="16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38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4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Keeping HTTPS working: automate, then watch the automation</a:t>
            </a:r>
            <a:endParaRPr lang="en-US" sz="3444" dirty="0"/>
          </a:p>
        </p:txBody>
      </p:sp>
      <p:sp>
        <p:nvSpPr>
          <p:cNvPr id="7" name="Text 5"/>
          <p:cNvSpPr/>
          <p:nvPr/>
        </p:nvSpPr>
        <p:spPr>
          <a:xfrm>
            <a:off x="685800" y="2146673"/>
            <a:ext cx="10820400" cy="3553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Certificates now last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 days or less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 renewal must be automatic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ACME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(Let's Encrypt and most hosts) proves you control the domain, then issues and renews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Platforms like Azure App Service, Netlify, and Vercel run ACME for you — you just add the domain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fails silently, so monitor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until expiry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(the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DaysLeft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field) and alert well before zero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HSTS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Strict-Transport-Security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tells browsers to use HTTPS only — and makes an expired cert a hard outage</a:t>
            </a:r>
            <a:endParaRPr lang="en-US" sz="1968" dirty="0"/>
          </a:p>
        </p:txBody>
      </p:sp>
      <p:sp>
        <p:nvSpPr>
          <p:cNvPr id="8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Encrypt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 works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MDN — </a:t>
            </a:r>
            <a:pPr indent="0" marL="0">
              <a:buNone/>
            </a:pP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Strict-Transport-Security</a:t>
            </a:r>
            <a:endParaRPr lang="en-US" sz="12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22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Individual silent write (3 min) → cold call (4 min) → debrief (3 min)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2662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claims. Which hold up, and what evidence settles each?</a:t>
            </a:r>
            <a:endParaRPr lang="en-US" sz="3864" dirty="0"/>
          </a:p>
        </p:txBody>
      </p:sp>
      <p:sp>
        <p:nvSpPr>
          <p:cNvPr id="10" name="Text 8"/>
          <p:cNvSpPr/>
          <p:nvPr/>
        </p:nvSpPr>
        <p:spPr>
          <a:xfrm>
            <a:off x="685800" y="3409749"/>
            <a:ext cx="10820400" cy="2264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Font typeface="+mj-lt"/>
              <a:buAutoNum type="arabicPeriod" startAt="1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"We enabled HTTP/2, so a lost packet no longer blocks other responses."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Font typeface="+mj-lt"/>
              <a:buAutoNum type="arabicPeriod" startAt="2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login page has a padlock, so the site is safe to trust with my password."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"It loads in Edge on my Windows laptop, so our certificate chain is configured correctly."</a:t>
            </a:r>
            <a:endParaRPr lang="en-US" sz="220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 and TLS: the big picture — Week 4 Block A</dc:title>
  <dc:subject>Why HTTP went from 1.1 to 2 to 3, and how a browser decides to trust a server</dc:subject>
  <dc:creator>Course staff</dc:creator>
  <cp:lastModifiedBy>Course staff</cp:lastModifiedBy>
  <cp:revision>1</cp:revision>
  <dcterms:created xsi:type="dcterms:W3CDTF">2026-10-01T21:49:05Z</dcterms:created>
  <dcterms:modified xsi:type="dcterms:W3CDTF">2026-10-01T21:49:05Z</dcterms:modified>
</cp:coreProperties>
</file>